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c1caa2d61443b" /><Relationship Type="http://schemas.openxmlformats.org/officeDocument/2006/relationships/extended-properties" Target="/docProps/app.xml" Id="Rf5d14696fc7d4e01" /><Relationship Type="http://schemas.openxmlformats.org/officeDocument/2006/relationships/officeDocument" Target="/ppt/presentation.xml" Id="Rdb893a4226e843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74fda7197b412b"/>
  </p:sldMasterIdLst>
  <p:notesMasterIdLst>
    <p:notesMasterId xmlns:r="http://schemas.openxmlformats.org/officeDocument/2006/relationships" r:id="Reae31da8947c4f7d"/>
  </p:notesMasterIdLst>
  <p:sldIdLst>
    <p:sldId xmlns:r="http://schemas.openxmlformats.org/officeDocument/2006/relationships" id="256" r:id="Rfc0b81e1970d4a5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1b0118b052420f" /><Relationship Type="http://schemas.openxmlformats.org/officeDocument/2006/relationships/slideMaster" Target="/ppt/slideMasters/slideMaster1.xml" Id="Rdf74fda7197b412b" /><Relationship Type="http://schemas.openxmlformats.org/officeDocument/2006/relationships/notesMaster" Target="/ppt/notesMasters/notesMaster1.xml" Id="Reae31da8947c4f7d" /><Relationship Type="http://schemas.openxmlformats.org/officeDocument/2006/relationships/presProps" Target="/ppt/presProps.xml" Id="Rf51efaf6c2d24f44" /><Relationship Type="http://schemas.openxmlformats.org/officeDocument/2006/relationships/tableStyles" Target="/ppt/tableStyles.xml" Id="R3979f097c77a472f" /><Relationship Type="http://schemas.openxmlformats.org/officeDocument/2006/relationships/slide" Target="/ppt/slides/slide1.xml" Id="Rfc0b81e1970d4a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94098e6bc14c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5d0fb3a33848f4" /><Relationship Type="http://schemas.openxmlformats.org/officeDocument/2006/relationships/notesMaster" Target="/ppt/notesMasters/notesMaster1.xml" Id="R25858f4f60ad4b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workflow screenshots (visual direction only).</a:t>
            </a:r>
          </a:p>
          <a:p xmlns:a="http://schemas.openxmlformats.org/drawingml/2006/main">
            <a:r>
              <a:t>- User-provided navy/gray/purple palette: #053351, #4d6076, #88919e, #c6c6c6, #9688a4, #664e82, #341760.</a:t>
            </a:r>
          </a:p>
          <a:p xmlns:a="http://schemas.openxmlformats.org/drawingml/2006/main">
            <a:r>
              <a:t>- User-provided rose palette: #bb7e8c, #ce98a6, #e0b3c0, #f2ceda, #d6b5c3, #bb9eab, #a08794.</a:t>
            </a:r>
          </a:p>
          <a:p xmlns:a="http://schemas.openxmlformats.org/drawingml/2006/main">
            <a:r>
              <a:t>- Seo J et al., Scientific Reports 2021: https://www.nature.com/articles/s41598-021-97308-1</a:t>
            </a:r>
          </a:p>
          <a:p xmlns:a="http://schemas.openxmlformats.org/drawingml/2006/main">
            <a:r>
              <a:t>- Ribeiro AH et al., Nature Communications 2020: https://www.nature.com/articles/s41467-020-15432-4</a:t>
            </a:r>
          </a:p>
          <a:p xmlns:a="http://schemas.openxmlformats.org/drawingml/2006/main">
            <a:r>
              <a:t>- ECG-FM workflow reference, JAMIA Open: https://academic.oup.com/jamiaopen/article/8/5/ooaf122/8287827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2f1bb200140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0606faba34ce2" /><Relationship Type="http://schemas.openxmlformats.org/officeDocument/2006/relationships/slideLayout" Target="/ppt/slideLayouts/slideLayout1.xml" Id="R91cc4203275c40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cc4203275c40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dd47d58d844f9" /><Relationship Type="http://schemas.openxmlformats.org/officeDocument/2006/relationships/notesSlide" Target="/ppt/notesSlides/notesSlide1.xml" Id="R17dc5cc5a09948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6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D6611AE5-AB80-4072-B3DD-094DB4B7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1390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ECG Cross-Dataset Generalization Benchmark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B94DB6AF-CB86-47C8-8EAC-A1B2F991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81050"/>
            <a:ext cx="1200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A unified workflow for harmonizing five clinical ECG datasets, training four model families, and measuring transfer across institutions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36476-D8AC-459F-8C3B-58AF79D1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1228725"/>
            <a:ext cx="3619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745D8-364C-4134-A0AB-0C6631EE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4381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076"/>
          </a:solidFill>
          <a:ln xmlns:a="http://schemas.openxmlformats.org/drawingml/2006/main" w="0">
            <a:solidFill>
              <a:srgbClr val="4D607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59040-D87E-4D61-B0DF-EDA6B4BB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86075"/>
            <a:ext cx="4381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076"/>
          </a:solidFill>
          <a:ln xmlns:a="http://schemas.openxmlformats.org/drawingml/2006/main" w="0">
            <a:solidFill>
              <a:srgbClr val="4D60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F940F-C7FB-4E84-8166-DE4BA8E0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210300"/>
            <a:ext cx="4381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076"/>
          </a:solidFill>
          <a:ln xmlns:a="http://schemas.openxmlformats.org/drawingml/2006/main" w="0">
            <a:solidFill>
              <a:srgbClr val="4D60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A9DFE-D83B-4230-AA96-C70EF48F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6210300"/>
            <a:ext cx="4381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076"/>
          </a:solidFill>
          <a:ln xmlns:a="http://schemas.openxmlformats.org/drawingml/2006/main" w="0">
            <a:solidFill>
              <a:srgbClr val="4D60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CBAAB-29ED-49D3-BBF7-8ED47B07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58950" y="5410200"/>
            <a:ext cx="9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B4545-2DA0-458D-B93C-0A8E80BD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04850" y="5505450"/>
            <a:ext cx="13754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D60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E8EDE-16DE-4FA9-B479-440CF001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57825"/>
            <a:ext cx="1333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076"/>
          </a:solidFill>
          <a:ln xmlns:a="http://schemas.openxmlformats.org/drawingml/2006/main" w="0">
            <a:solidFill>
              <a:srgbClr val="4D60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09601-B004-440F-B321-E775E407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417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176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C690A-99E6-462E-B546-1A7045C6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66850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Five clinical ECG datasets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3ABEA-E3F1-43CD-A342-E071B6DB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1819275"/>
            <a:ext cx="4048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8919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3FE62-67DA-4A00-B9ED-31F61D9E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7526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CFBFC"/>
          </a:solidFill>
          <a:ln xmlns:a="http://schemas.openxmlformats.org/drawingml/2006/main" w="7144">
            <a:solidFill>
              <a:srgbClr val="C6C6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50EB-475E-4FB7-B79E-97BF2C47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81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533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A41D3-7438-49C0-8A00-6DF9DA66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28028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B23E3-BE20-42FB-ABF3-46BB515C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3950" y="2261616"/>
            <a:ext cx="7143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31E28-E96A-441A-BCFC-EEAFF65B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5388" y="2261616"/>
            <a:ext cx="71438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3D9E8-5AC4-4BC6-BF10-FC414854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66825" y="2280285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DCE8D-40DC-47F6-BDA6-D56ED6D7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6838" y="2280285"/>
            <a:ext cx="1000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A78C6-1369-475C-843B-313E3BB6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66850" y="2194941"/>
            <a:ext cx="85725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54BB6-EEA6-4986-82BB-D037C22D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2575" y="2194941"/>
            <a:ext cx="71438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CE616-F521-4408-95DD-B84C7B36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24013" y="2261616"/>
            <a:ext cx="71438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D6371-D406-48D8-A171-1BF289EE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95450" y="2261616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0E053-2767-4461-8768-81F6EC29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5463" y="2280285"/>
            <a:ext cx="1285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46DFFE-A05A-456D-B372-8E9792A8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924050" y="2245614"/>
            <a:ext cx="100013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5DFC6C-BF4C-40B0-A7DE-DE125038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24063" y="2245614"/>
            <a:ext cx="12858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08CD6C-6B0E-40BB-998A-A5D06D6D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2650" y="228028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AFAE5-EC82-472C-80CE-534D77A9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PTB-XL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9A2CF-C787-4F1C-BE45-F96D5C98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21,799 · Germany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49FAC-80AF-4BAA-A880-B1C36AEF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17526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CFBFC"/>
          </a:solidFill>
          <a:ln xmlns:a="http://schemas.openxmlformats.org/drawingml/2006/main" w="7144">
            <a:solidFill>
              <a:srgbClr val="C6C6C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D1181B-BD77-4E76-82FC-FCBD4A12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D6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434EB6-7737-4099-B201-2CBA03F7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228028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371995-EDE3-4693-9985-E3C6BC9D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28950" y="2261616"/>
            <a:ext cx="7143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E8EF36-ACD0-4404-9794-F650BF3F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00388" y="2261616"/>
            <a:ext cx="71438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E5F02F-11B9-47D3-BDE5-52042814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71825" y="2280285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4804AE-111C-4A4C-A016-9997FC9C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1838" y="2280285"/>
            <a:ext cx="1000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9271A5-EEE0-420A-98F8-D8106D2C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71850" y="2194941"/>
            <a:ext cx="85725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C6303C-8E19-4985-A003-7B3122B5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57575" y="2194941"/>
            <a:ext cx="71438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05CCDF-5B65-4260-9CF2-0E59F2A0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29013" y="2261616"/>
            <a:ext cx="71438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21880A-5E66-4B44-A09C-48C43EC8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2261616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7AD437-F418-4E7F-BD02-147E1880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00463" y="2280285"/>
            <a:ext cx="1285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282FAA-EADB-4757-AF25-2CE8496B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9050" y="2245614"/>
            <a:ext cx="100013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E10C63-E6AA-4A5D-8803-C6B365BA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29063" y="2245614"/>
            <a:ext cx="12858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05DA7E-CBC9-4F50-B3A1-6940D3F5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28028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4DA60A-4BE8-4653-84C9-43DF62D8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0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MIMIC-IV-ECG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6EE47B-3A1D-4964-B017-34612C2B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032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50,000 ECGs · USA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C4123D-06D2-4D9E-A80E-7B56DB3A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7526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CFBFC"/>
          </a:solidFill>
          <a:ln xmlns:a="http://schemas.openxmlformats.org/drawingml/2006/main" w="7144">
            <a:solidFill>
              <a:srgbClr val="C6C6C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CB834F-35DB-4C81-AAA5-7F96BB3F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381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891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ACBC6B-0B93-4E97-849D-BE9F3FAC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25183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E01A9D-A340-47E7-8A36-4C9183FC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3950" y="3233166"/>
            <a:ext cx="7143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1162DC-D41D-4536-9ED8-B1A64B65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5388" y="3233166"/>
            <a:ext cx="71438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16C5C2-47FE-49AF-AF64-E8704E66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66825" y="3251835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59F233-402C-42A2-A0E8-CC89B474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6838" y="3251835"/>
            <a:ext cx="1000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4658B8-AFBD-4761-9499-77E764CE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66850" y="3166491"/>
            <a:ext cx="85725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426631-623F-4BFA-9E54-B640B1B3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2575" y="3166491"/>
            <a:ext cx="71438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822565-D914-41E7-94F4-AAD60E1F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24013" y="3233166"/>
            <a:ext cx="71438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7A659B-100D-4ABD-8B41-711BEC2D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95450" y="3233166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4BFA5B-E96A-4363-BE91-961CB9AC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5463" y="3251835"/>
            <a:ext cx="1285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8C765F-7C0D-482D-AD71-4131F37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924050" y="3217164"/>
            <a:ext cx="100013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4C3853-4DA4-42F6-92DE-5833D11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24063" y="3217164"/>
            <a:ext cx="12858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D54615-368B-498B-9341-1F1DA6F7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2650" y="325183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9C132F-DC35-4D1F-AFE7-6E8D2496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CPSC2018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18A0E0-D384-4A35-B419-F28B3531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6,877 · China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BC43B5-B965-4D05-82DF-940AD10C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17526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CFBFC"/>
          </a:solidFill>
          <a:ln xmlns:a="http://schemas.openxmlformats.org/drawingml/2006/main" w="7144">
            <a:solidFill>
              <a:srgbClr val="C6C6C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823CFD-2A9A-48B5-98DC-F4F23E52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381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688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04A00F-D311-4F11-99EC-35B04861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325183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FDD5654-1911-4B43-A140-0EDE3BCD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28950" y="3233166"/>
            <a:ext cx="7143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05EF019-50AE-4B47-B43C-5DB10612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00388" y="3233166"/>
            <a:ext cx="71438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4DB3C4-BFCC-4194-B1C2-3CBA162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71825" y="3251835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DE4FB8C-C251-4B0C-B9B7-C17C0B82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1838" y="3251835"/>
            <a:ext cx="1000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0E988C-47B2-47B4-B621-5CD90AC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71850" y="3166491"/>
            <a:ext cx="85725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DFA5B1B-358F-4A6A-B4D0-CA22896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57575" y="3166491"/>
            <a:ext cx="71438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D1C3C93-A349-489D-9788-82FC90E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29013" y="3233166"/>
            <a:ext cx="71438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6FAFB0C-C5B3-441F-BDE2-FECBF942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3233166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C7CE2DF-5883-4D0C-8189-BC6743B4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00463" y="3251835"/>
            <a:ext cx="1285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F11E29-3CFE-4293-BDC4-93CD2599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9050" y="3217164"/>
            <a:ext cx="100013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6DDBEA-070A-476D-8F08-50C13ECA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29063" y="3217164"/>
            <a:ext cx="12858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F21B1A-EE3F-422B-B683-A7CEBE04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25183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C4E0B0-97E6-4DE3-A878-6836BAF6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Georgia 12-Lead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C8D4E5-0289-49BD-9342-7202821B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718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10,344 · USA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EE330C2-182F-445E-ABFE-D5CD5E73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17526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CFBFC"/>
          </a:solidFill>
          <a:ln xmlns:a="http://schemas.openxmlformats.org/drawingml/2006/main" w="7144">
            <a:solidFill>
              <a:srgbClr val="C6C6C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499C476-A881-432A-9E81-412A2098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381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4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8A5D03-0D3E-4047-8B7A-5EF66DEF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422338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8010EC6-1C00-42C9-8808-E3B299F4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76450" y="4204716"/>
            <a:ext cx="7143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EF8E00-594A-4A34-8C53-99D4D021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47888" y="4204716"/>
            <a:ext cx="71438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27F825F-80C6-468F-9F4C-43CDA5A8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19325" y="4223385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9FEA8B-2389-435F-9BA0-1665B3CE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19338" y="4223385"/>
            <a:ext cx="1000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E0E613-83A1-4F3D-B80F-FCBC59C0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19350" y="4138041"/>
            <a:ext cx="85725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C8EC1B6-EA93-4117-B35B-45CE64E3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5075" y="4138041"/>
            <a:ext cx="71438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BCA260-DB77-454C-80F9-D113180B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76513" y="4204716"/>
            <a:ext cx="71438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04BD665-4650-41F0-9AFE-24240998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47950" y="4204716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896E616-2002-45B4-8E2B-E226F7A5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47963" y="4223385"/>
            <a:ext cx="1285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DF827D4-5D06-4CD6-B3C5-F2DB78B5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76550" y="4188714"/>
            <a:ext cx="100013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3E97B8-F57A-4072-B709-3ACA14B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6563" y="4188714"/>
            <a:ext cx="12858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A11FAB5-D9BE-49E5-9993-68DEBA6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05150" y="422338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B61E27B-128D-4DA7-A5CF-8C200B07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43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CODE-15%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2A9C75E-4DB7-47CE-B7D0-E19E3252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4342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50,000 ECGs · Brazil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7F41534-CDD5-4146-BBB7-F6900906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373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Each dataset keeps its original patient population, device characteristics, and label vocabulary.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2E96F5A-5055-4CE1-9E47-AD510500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85900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417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176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1121B48-4C39-4C0F-99B4-C34E9FAA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4668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Harmonize signals and labels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0CF30B7-A38C-495D-9050-75DBC040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1819275"/>
            <a:ext cx="400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8919E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DDEC6D9-BAC3-4483-A910-AA8BA7B7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907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Raw 12-lead ECG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0DA5304-2CF8-4192-B6F7-F22428EB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2409825"/>
            <a:ext cx="1390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6C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AEDAF74-034D-4FC4-921C-5A45B048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2442210"/>
            <a:ext cx="1554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665C298-0C29-4AE9-A1F0-ACD471B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27598" y="2423541"/>
            <a:ext cx="6477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8A7F8F2-F082-4BD8-9D39-8DA46C4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2368" y="2423541"/>
            <a:ext cx="6477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2213923-B4DE-4EB2-9FC9-AACCA9C4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138" y="2442210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078B498-8E58-4871-AE60-52FE0E6C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7816" y="2442210"/>
            <a:ext cx="9067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919283D-06DF-4E99-924E-305E01C6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494" y="2356866"/>
            <a:ext cx="77724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B4A815F-52BA-4C52-A285-226EB4A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16218" y="2356866"/>
            <a:ext cx="6477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0704877-E0BA-450F-92EF-6822CCAE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80988" y="2423541"/>
            <a:ext cx="6477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C2829F2-37EC-468B-96C1-2578D83E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5758" y="2423541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52D5F0F-BF03-4CB7-A607-33B66158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6436" y="2442210"/>
            <a:ext cx="1165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2065C95-72FF-46BA-ABF8-4B54E353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3022" y="2407539"/>
            <a:ext cx="9067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CB71125-4D9D-4F95-BA8F-1C3863FF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2407539"/>
            <a:ext cx="116586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2531ED8-9BA7-4178-A8E3-3F6E722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0286" y="2442210"/>
            <a:ext cx="20726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2CEC6FA-800F-46FC-843F-82A759F0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2647950"/>
            <a:ext cx="1390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6C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4C75B1B-85A4-42F1-B58C-FFE5B383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2680335"/>
            <a:ext cx="1554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85D0C86-A120-491E-987A-EE7D37F6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27598" y="2661666"/>
            <a:ext cx="6477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935F3D0-ED76-4EDC-B3C2-6CBC0AF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2368" y="2661666"/>
            <a:ext cx="6477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4D90B95-62B9-4077-A8B2-D149D3BF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138" y="2680335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4E4FBFB-5FC5-49EA-898E-2FE1C215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7816" y="2680335"/>
            <a:ext cx="9067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FD1FE5E-069B-4886-ADF4-1DBA2CCE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494" y="2594991"/>
            <a:ext cx="77724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E8A533F-5070-4C25-8D02-B8C7B5B4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16218" y="2594991"/>
            <a:ext cx="6477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291C77E-CC15-4087-8953-C751D443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80988" y="2661666"/>
            <a:ext cx="6477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14FBD3A-7573-4173-9C8F-784B5ECF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5758" y="2661666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FF4EE23-F709-423B-B923-12876DE2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6436" y="2680335"/>
            <a:ext cx="1165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33F2A7-C6A9-48FF-9BAD-1A5E205A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3022" y="2645664"/>
            <a:ext cx="9067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7D43FA-6C32-44EB-A439-9DD253EB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2645664"/>
            <a:ext cx="116586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85EED4D-C374-4DA9-B328-95DE5435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0286" y="2680335"/>
            <a:ext cx="20726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0982EB7-195F-4674-857B-62AC3277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2886075"/>
            <a:ext cx="1390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6C6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216AB18-9488-4D0B-9F1E-3720AFEF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2918460"/>
            <a:ext cx="1554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2AEB821-74CF-493F-9815-4FCBF81F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27598" y="2899791"/>
            <a:ext cx="6477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226595F-9EE8-445F-B399-5608953F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2368" y="2899791"/>
            <a:ext cx="6477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1E3ADF8-5381-41E3-83DD-9F255FA2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138" y="2918460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4F20017-271C-434D-8DF8-6F86E1E8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7816" y="2918460"/>
            <a:ext cx="9067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5CBF7B8-94F7-49FA-9A89-4A4E18E8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494" y="2833116"/>
            <a:ext cx="77724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6FF39A2-8F8A-475A-B657-955F12B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16218" y="2833116"/>
            <a:ext cx="6477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298EBA1-C8C4-4B85-85C9-8B4AC8D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80988" y="2899791"/>
            <a:ext cx="6477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C58E671-7F68-4CA5-9192-FAF2F454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5758" y="2899791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FE252FA-EC3D-47D7-B0F4-E4A5C300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6436" y="2918460"/>
            <a:ext cx="1165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ABF66C3-CD43-4CA6-978E-9A3C8B44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3022" y="2883789"/>
            <a:ext cx="9067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0ECD612-9F88-42F0-8CBC-B4E1A0BC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2883789"/>
            <a:ext cx="116586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BB87932-C630-4CAA-89D7-45B45CA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0286" y="2918460"/>
            <a:ext cx="20726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88919E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A11522E-8F30-4D45-8F6A-A090164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3124200"/>
            <a:ext cx="1390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6C6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AEB480C-98BD-4667-A981-9547A100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3156585"/>
            <a:ext cx="1554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CA49F70-C939-4C9C-A7D5-1A638FD1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27598" y="3137916"/>
            <a:ext cx="6477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16777E8-7705-4FCE-97E0-7FE45237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2368" y="3137916"/>
            <a:ext cx="6477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82990AD-A4D3-46A6-9453-CA86BB72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138" y="3156585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529938D-0A3D-43C1-9178-486C6A71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7816" y="3156585"/>
            <a:ext cx="9067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466A63C-3143-4F83-9607-58DA989C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494" y="3071241"/>
            <a:ext cx="77724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67DFE5A-28DD-42CA-A23D-9A6440CB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16218" y="3071241"/>
            <a:ext cx="6477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E13F43C-4BF6-4251-8A3D-2D9DA67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80988" y="3137916"/>
            <a:ext cx="6477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25B3965-A752-41D2-834F-EF3AAD4E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5758" y="3137916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A712190-AA5C-402C-B64D-949ED97F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6436" y="3156585"/>
            <a:ext cx="1165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F82C1B7-AF44-4714-AB6F-378D298A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3022" y="3121914"/>
            <a:ext cx="9067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7C421FA-7D8A-4E97-9F50-D4440EBF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3121914"/>
            <a:ext cx="116586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B5B4A24-7F82-4133-A30D-AC124F0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0286" y="3156585"/>
            <a:ext cx="20726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688A4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E17EDA8-3C55-4D48-B3A2-54BEE33F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3362325"/>
            <a:ext cx="1390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6C6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0B6F6AA-13CF-4182-8CC1-8E999250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3394710"/>
            <a:ext cx="1554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8AE9119-7BCA-4304-8772-E6ECFA15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27598" y="3376041"/>
            <a:ext cx="6477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8998983-C229-40F8-A188-782C77B6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2368" y="3376041"/>
            <a:ext cx="6477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69ACCE9-9FC5-4191-A222-C371F13F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138" y="3394710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2BA6AAF-A360-4B0A-95C5-26403FD8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7816" y="3394710"/>
            <a:ext cx="9067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27E6A8D-E492-481B-90F3-D7863D6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494" y="3309366"/>
            <a:ext cx="77724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6863631-8D41-4456-ADF3-CD4D5E55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16218" y="3309366"/>
            <a:ext cx="6477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765C4D1-72B1-4345-92D2-D955959C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80988" y="3376041"/>
            <a:ext cx="6477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D281BA8-C8B9-4CA5-B6B3-CDA36862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5758" y="3376041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4B67920-7FF1-4258-8E36-FE7C31DC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6436" y="3394710"/>
            <a:ext cx="1165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91F377F-BC98-4D85-AD5F-678C31A9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3022" y="3360039"/>
            <a:ext cx="9067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B0026C1-81B8-49D4-A12B-FF66F101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3360039"/>
            <a:ext cx="116586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D58AE09-0525-451F-8F87-67F5716F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0286" y="3394710"/>
            <a:ext cx="20726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664E82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912C41B-8CE8-43D0-9E27-AF3CD44F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86650" y="2352675"/>
            <a:ext cx="914400" cy="10477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1F0F2"/>
          </a:solidFill>
          <a:ln xmlns:a="http://schemas.openxmlformats.org/drawingml/2006/main" w="19050">
            <a:solidFill>
              <a:srgbClr val="4D6076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5E63A96-7117-45B3-9445-E521A53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standardize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3C387B0-00F4-4A35-9171-E93C54AB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09800"/>
            <a:ext cx="762000" cy="1352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6076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70F1D5C-0F4C-4772-8873-12E57A6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050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10 s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52AACB2-4FB0-4A9F-AB20-0CAD596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479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500 Hz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8DC0A7D-03DC-4895-852C-E8E3E52A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90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5,000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5116F0B-B48D-41F6-9E73-E0C999F6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19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samples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3E3ADA3-78AB-4974-8A1A-1F2DECFA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528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Canonical lead order  ·  consistent scaling  ·  patient-safe 80/10/10 split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CEF769A-39D5-4D02-8439-2E38361C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86250"/>
            <a:ext cx="6477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8EEF1"/>
          </a:solidFill>
          <a:ln xmlns:a="http://schemas.openxmlformats.org/drawingml/2006/main" w="8096">
            <a:solidFill>
              <a:srgbClr val="BB7E8C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6708BE0-3AF7-4AD7-8A18-3BE68BA2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24350"/>
            <a:ext cx="647700" cy="24765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8096">
            <a:solidFill>
              <a:srgbClr val="BB9EA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4547D64-414C-481F-9E5F-67B921A6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6477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EBEF"/>
          </a:solidFill>
          <a:ln xmlns:a="http://schemas.openxmlformats.org/drawingml/2006/main" w="8096">
            <a:solidFill>
              <a:srgbClr val="CE98A6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F701534-E9AB-4167-8DF0-AF27743C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647700" cy="24765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8096">
            <a:solidFill>
              <a:srgbClr val="BB9EA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AF/AFL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8E77A61-FCC2-4992-BD19-5421D57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6477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2CEDA"/>
          </a:solidFill>
          <a:ln xmlns:a="http://schemas.openxmlformats.org/drawingml/2006/main" w="8096">
            <a:solidFill>
              <a:srgbClr val="E0B3C0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7B636E7-C9C9-4A98-BA67-5C68692D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647700" cy="24765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8096">
            <a:solidFill>
              <a:srgbClr val="BB9EA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1° AVB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F0E85B6-AD74-4360-8233-39C14D7E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6477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E1E6"/>
          </a:solidFill>
          <a:ln xmlns:a="http://schemas.openxmlformats.org/drawingml/2006/main" w="8096">
            <a:solidFill>
              <a:srgbClr val="D6B5C3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8DBEE60-B549-44CC-B7D0-39EDD906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24350"/>
            <a:ext cx="647700" cy="24765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8096">
            <a:solidFill>
              <a:srgbClr val="BB9EA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LBBB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42221D2-0DFA-4BCA-BB9A-7E74364E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86250"/>
            <a:ext cx="6477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9DDE3"/>
          </a:solidFill>
          <a:ln xmlns:a="http://schemas.openxmlformats.org/drawingml/2006/main" w="8096">
            <a:solidFill>
              <a:srgbClr val="A08794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36152AB-3D89-42A2-A042-6049DE0F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647700" cy="24765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8096">
            <a:solidFill>
              <a:srgbClr val="BB9EA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RBBB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E327C2A-E454-4A62-AB6B-B017BA48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768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Dataset-specific diagnoses are mapped into one precision-first five-label schema.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74D9BB1-260A-4994-A75D-3ECA43D5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417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176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8376F2D-CDA7-43A7-8BBC-C18D9447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4668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Four model families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ABEC364-C365-4CA2-A67F-A0E99F73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1819275"/>
            <a:ext cx="4381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8919E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CAD28EE-C395-4AE2-944B-3742D8EB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35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20A6CCE-5889-48F6-A716-E121D66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35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9456933-0D24-4F9F-8087-4C88B004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286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35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1B16971-4690-4C9E-9777-8E5E229B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14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35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1760B9A-4482-4B16-A4D5-2D5A4189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335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cxnSp>
        <p:nvCxnSpPr>
          <p:cNvPr id="996" name=""/>
          <p:cNvCxnSpPr>
            <a:stCxn xmlns:a="http://schemas.openxmlformats.org/drawingml/2006/main" id="196" idx="7"/>
            <a:endCxn xmlns:a="http://schemas.openxmlformats.org/drawingml/2006/main" id="197" idx="3"/>
          </p:cNvCxnSpPr>
          <p:nvPr/>
        </p:nvCxnSpPr>
        <p:spPr>
          <a:xfrm xmlns:a="http://schemas.openxmlformats.org/drawingml/2006/main" flipV="1">
            <a:off x="10591321" y="2171221"/>
            <a:ext cx="210507" cy="13430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53351"/>
            </a:solidFill>
            <a:prstDash val="solid"/>
          </a:ln>
        </p:spPr>
      </p:cxnSp>
      <p:cxnSp>
        <p:nvCxnSpPr>
          <p:cNvPr id="997" name=""/>
          <p:cNvCxnSpPr>
            <a:stCxn xmlns:a="http://schemas.openxmlformats.org/drawingml/2006/main" id="197" idx="5"/>
            <a:endCxn xmlns:a="http://schemas.openxmlformats.org/drawingml/2006/main" id="200" idx="1"/>
          </p:cNvCxnSpPr>
          <p:nvPr/>
        </p:nvCxnSpPr>
        <p:spPr>
          <a:xfrm xmlns:a="http://schemas.openxmlformats.org/drawingml/2006/main">
            <a:off x="10896121" y="2171221"/>
            <a:ext cx="229557" cy="13430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53351"/>
            </a:solidFill>
            <a:prstDash val="solid"/>
          </a:ln>
        </p:spPr>
      </p:cxnSp>
      <p:cxnSp>
        <p:nvCxnSpPr>
          <p:cNvPr id="998" name=""/>
          <p:cNvCxnSpPr>
            <a:stCxn xmlns:a="http://schemas.openxmlformats.org/drawingml/2006/main" id="196" idx="6"/>
            <a:endCxn xmlns:a="http://schemas.openxmlformats.org/drawingml/2006/main" id="198" idx="2"/>
          </p:cNvCxnSpPr>
          <p:nvPr/>
        </p:nvCxnSpPr>
        <p:spPr>
          <a:xfrm xmlns:a="http://schemas.openxmlformats.org/drawingml/2006/main">
            <a:off x="10610850" y="23526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53351"/>
            </a:solidFill>
            <a:prstDash val="solid"/>
          </a:ln>
        </p:spPr>
      </p:cxnSp>
      <p:cxnSp>
        <p:nvCxnSpPr>
          <p:cNvPr id="999" name=""/>
          <p:cNvCxnSpPr>
            <a:stCxn xmlns:a="http://schemas.openxmlformats.org/drawingml/2006/main" id="198" idx="6"/>
            <a:endCxn xmlns:a="http://schemas.openxmlformats.org/drawingml/2006/main" id="200" idx="2"/>
          </p:cNvCxnSpPr>
          <p:nvPr/>
        </p:nvCxnSpPr>
        <p:spPr>
          <a:xfrm xmlns:a="http://schemas.openxmlformats.org/drawingml/2006/main">
            <a:off x="10915650" y="2352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53351"/>
            </a:solidFill>
            <a:prstDash val="solid"/>
          </a:ln>
        </p:spPr>
      </p:cxnSp>
      <p:cxnSp>
        <p:nvCxnSpPr>
          <p:cNvPr id="1000" name=""/>
          <p:cNvCxnSpPr>
            <a:stCxn xmlns:a="http://schemas.openxmlformats.org/drawingml/2006/main" id="196" idx="5"/>
            <a:endCxn xmlns:a="http://schemas.openxmlformats.org/drawingml/2006/main" id="199" idx="1"/>
          </p:cNvCxnSpPr>
          <p:nvPr/>
        </p:nvCxnSpPr>
        <p:spPr>
          <a:xfrm xmlns:a="http://schemas.openxmlformats.org/drawingml/2006/main">
            <a:off x="10591321" y="2399821"/>
            <a:ext cx="210507" cy="13430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53351"/>
            </a:solidFill>
            <a:prstDash val="solid"/>
          </a:ln>
        </p:spPr>
      </p:cxnSp>
      <p:cxnSp>
        <p:nvCxnSpPr>
          <p:cNvPr id="1001" name=""/>
          <p:cNvCxnSpPr>
            <a:stCxn xmlns:a="http://schemas.openxmlformats.org/drawingml/2006/main" id="199" idx="7"/>
            <a:endCxn xmlns:a="http://schemas.openxmlformats.org/drawingml/2006/main" id="200" idx="3"/>
          </p:cNvCxnSpPr>
          <p:nvPr/>
        </p:nvCxnSpPr>
        <p:spPr>
          <a:xfrm xmlns:a="http://schemas.openxmlformats.org/drawingml/2006/main" flipV="1">
            <a:off x="10896121" y="2399821"/>
            <a:ext cx="229557" cy="13430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53351"/>
            </a:solidFill>
            <a:prstDash val="solid"/>
          </a:ln>
        </p:spPr>
      </p:cxn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54390FF-8046-4037-8670-7AA9806B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InceptionTime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B79C3B1-DB81-42EE-8224-934B25CA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3526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trained from scratch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5E02F6A-AAC4-401C-961B-A8722FE2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11250" y="2171700"/>
            <a:ext cx="9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C6C6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659A239-2CFA-485B-B1CF-84137AA1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0955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533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963D9DB-5CAA-4B75-8547-A684E9E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0955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533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2A9B0BF-16BD-4ACB-9AE3-14AF90D3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2955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533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68F2E52-2BC2-4B52-A98B-039838B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2955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533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6239446-84C0-4A61-A672-16B78CA2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49555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533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AA7B783-10C2-4255-A63B-7937612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33700"/>
            <a:ext cx="209550" cy="3619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11430">
            <a:solidFill>
              <a:srgbClr val="4D6076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465FFE1-1C66-41A4-B8C7-4D5D4170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933700"/>
            <a:ext cx="209550" cy="3619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11430">
            <a:solidFill>
              <a:srgbClr val="4D6076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752D46B-D8ED-4324-BADC-2DCC63A9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33700"/>
            <a:ext cx="209550" cy="3619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11430">
            <a:solidFill>
              <a:srgbClr val="4D6076"/>
            </a:solidFill>
            <a:prstDash val="solid"/>
          </a:ln>
        </p:spPr>
      </p:sp>
      <p:cxnSp>
        <p:nvCxnSpPr>
          <p:cNvPr id="1013" name=""/>
          <p:cNvCxnSpPr>
            <a:stCxn xmlns:a="http://schemas.openxmlformats.org/drawingml/2006/main" id="215" idx="3"/>
            <a:endCxn xmlns:a="http://schemas.openxmlformats.org/drawingml/2006/main" id="216" idx="1"/>
          </p:cNvCxnSpPr>
          <p:nvPr/>
        </p:nvCxnSpPr>
        <p:spPr>
          <a:xfrm xmlns:a="http://schemas.openxmlformats.org/drawingml/2006/main">
            <a:off x="10687050" y="31146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D6076"/>
            </a:solidFill>
            <a:prstDash val="solid"/>
            <a:headEnd type="triangle" w="sm" len="sm"/>
          </a:ln>
        </p:spPr>
      </p:cxnSp>
      <p:cxnSp>
        <p:nvCxnSpPr>
          <p:cNvPr id="1014" name=""/>
          <p:cNvCxnSpPr>
            <a:stCxn xmlns:a="http://schemas.openxmlformats.org/drawingml/2006/main" id="216" idx="3"/>
            <a:endCxn xmlns:a="http://schemas.openxmlformats.org/drawingml/2006/main" id="217" idx="1"/>
          </p:cNvCxnSpPr>
          <p:nvPr/>
        </p:nvCxnSpPr>
        <p:spPr>
          <a:xfrm xmlns:a="http://schemas.openxmlformats.org/drawingml/2006/main">
            <a:off x="11010900" y="31146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D6076"/>
            </a:solidFill>
            <a:prstDash val="solid"/>
            <a:headEnd type="triangle" w="sm" len="sm"/>
          </a:ln>
        </p:spPr>
      </p:cxnSp>
      <p:cxnSp>
        <p:nvCxnSpPr>
          <p:cNvPr id="1015" name=""/>
          <p:cNvCxnSpPr>
            <a:stCxn xmlns:a="http://schemas.openxmlformats.org/drawingml/2006/main" id="215" idx="0"/>
            <a:endCxn xmlns:a="http://schemas.openxmlformats.org/drawingml/2006/main" id="217" idx="0"/>
          </p:cNvCxnSpPr>
          <p:nvPr/>
        </p:nvCxnSpPr>
        <p:spPr>
          <a:xfrm xmlns:a="http://schemas.openxmlformats.org/drawingml/2006/main">
            <a:off x="10582275" y="2705100"/>
            <a:ext cx="647700" cy="228600"/>
          </a:xfrm>
          <a:prstGeom xmlns:a="http://schemas.openxmlformats.org/drawingml/2006/main" prst="bentConnector4">
            <a:avLst/>
          </a:prstGeom>
          <a:ln xmlns:a="http://schemas.openxmlformats.org/drawingml/2006/main" w="12383">
            <a:solidFill>
              <a:srgbClr val="4D6076"/>
            </a:solidFill>
            <a:prstDash val="solid"/>
            <a:headEnd type="triangle" w="sm" len="sm"/>
          </a:ln>
        </p:spPr>
      </p:cxn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5E2C185-A026-4684-88BA-CAE9B13B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819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ResNet1D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9F74866-EA67-4A12-84EE-53AF708C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0765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trained from scratch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31EF43C-0CFD-47FC-A521-83EE7F2E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11250" y="2895600"/>
            <a:ext cx="9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C6C6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F951D1B-40D0-4B6A-BD96-83BEDE64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8194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D6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767FD47-9068-4CAF-BB95-752D9658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8194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D6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00A08B0-675D-4781-AEFA-3E216FF4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0194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D6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65F14DF-4729-40DB-B4F6-69CF5F5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0194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D6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0987022-2F24-4152-8681-71EAD9D5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21945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D6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6C4B7FA2-43F2-4F93-84DE-68567982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81400"/>
            <a:ext cx="152400" cy="5143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8F1"/>
          </a:solidFill>
          <a:ln xmlns:a="http://schemas.openxmlformats.org/drawingml/2006/main" w="11430">
            <a:solidFill>
              <a:srgbClr val="664E82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F313CBC-85E3-4E54-B789-19D78DA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619500"/>
            <a:ext cx="152400" cy="438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8F1"/>
          </a:solidFill>
          <a:ln xmlns:a="http://schemas.openxmlformats.org/drawingml/2006/main" w="11430">
            <a:solidFill>
              <a:srgbClr val="664E82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1463A6C-8A6E-4346-B0CB-2006AFBF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657600"/>
            <a:ext cx="152400" cy="361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8F1"/>
          </a:solidFill>
          <a:ln xmlns:a="http://schemas.openxmlformats.org/drawingml/2006/main" w="11430">
            <a:solidFill>
              <a:srgbClr val="664E82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12B5995-BBF2-4D8D-96A2-93E50FD8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95700"/>
            <a:ext cx="152400" cy="2857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8F1"/>
          </a:solidFill>
          <a:ln xmlns:a="http://schemas.openxmlformats.org/drawingml/2006/main" w="11430">
            <a:solidFill>
              <a:srgbClr val="664E82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FF56033-A0BB-4566-AA0C-E00C58DD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52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ATTN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5813964-384A-4327-8C81-3DE644F8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Transformer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A1A35B6-79A4-46C0-962B-154C5082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004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vanilla baseline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C4FCCFA-75B1-4A13-89AD-0057AED1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11250" y="3619500"/>
            <a:ext cx="9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C6C6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8E06E0B-2A3B-4B28-BB3C-7D4DD734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5433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4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9B9DC65-17F7-45D6-BEF3-0B6E6A09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5433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4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A93FE76-8B1A-4AF5-9F60-F04FE7B7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7433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4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0D510D4-9BC9-4709-8620-0A098D02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7433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4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AA33028-BD02-43B5-AB8F-483B62DB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94335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4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9CC9219-9BB3-4682-B76A-4C64E7FF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14825"/>
            <a:ext cx="6858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E0EB"/>
          </a:solidFill>
          <a:ln xmlns:a="http://schemas.openxmlformats.org/drawingml/2006/main" w="11430">
            <a:solidFill>
              <a:srgbClr val="341760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EDE2388-8B63-49E9-8CB0-6E2D3126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3624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594703E-EE90-42C2-AEBC-0E15372E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0" y="4680585"/>
            <a:ext cx="5943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5902E85-7B6F-485A-B3C6-EE7915FF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32186" y="4661916"/>
            <a:ext cx="24765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C9F750E-6647-49A2-8C6C-E025B1BE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56951" y="4661916"/>
            <a:ext cx="24765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54D575C6-ADCA-4F0B-9D46-F258E92E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81716" y="4680585"/>
            <a:ext cx="34671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D40C9B65-123F-40B4-A752-32FC995E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16387" y="4680585"/>
            <a:ext cx="34671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11C9603-15BF-482F-A65D-D2EFCC14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751058" y="4595241"/>
            <a:ext cx="29718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0DA75EA-F919-466A-A970-FC92E28A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0776" y="4595241"/>
            <a:ext cx="24765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2BF3566-128F-4705-B71B-8C365320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05541" y="4661916"/>
            <a:ext cx="24765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C4F01E0-CE83-4F8C-B6FE-E76E59EB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30306" y="4661916"/>
            <a:ext cx="34671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480A153-6112-4BAC-9E51-C27666DE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64977" y="4680585"/>
            <a:ext cx="4457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BD33F57-EA34-457A-A635-A19642B0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909554" y="4645914"/>
            <a:ext cx="34671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A572D8E-A21B-422E-BB67-70DAB589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44225" y="4645914"/>
            <a:ext cx="44577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7A4CF10-8D4C-4DF9-8338-4635435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88802" y="4680585"/>
            <a:ext cx="792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341760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4544260-5D91-4F8F-B4C3-F5B5F93A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438650"/>
            <a:ext cx="171450" cy="2476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41760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57D1D69-6F07-4197-961E-AC5AD20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26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ECG-FM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C95FD35-5845-43E0-9A13-547ACA3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524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frozen backbone + adapter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2AFB406-ADD3-49BF-832A-7974291C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11250" y="4343400"/>
            <a:ext cx="9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C6C6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08F5967-7664-42CB-965D-DD8F1A90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2672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41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E66CAFB-FA32-4825-836D-6CAB8167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2672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41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477345E-E0A3-4F81-A04B-D5E8AF7A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4672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41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52B037F-7E6B-4300-AB96-F4587AF6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4672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41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27B646C6-19A4-4632-8D42-5A171D1E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66725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41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5C9A94C-0A27-49F1-A838-1D721432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1490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Five source-specific checkpoints per architecture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4B9C292E-6AA7-417D-930A-633C20DF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8160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Validation-AUROC early stopping · epoch checkpoints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3385FAA-9F62-4058-B53E-6C508BE1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417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176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1A4146A-84B2-429B-9702-98BA8BD8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67375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5 × 5 source-to-target evaluation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F2525DEE-10D1-450E-B61C-FFB85737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6019800"/>
            <a:ext cx="5143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8919E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A490E64-8224-46F8-B6C1-6E92AD57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1341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93C6CCD-1D63-4A93-AD27-2A920644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1341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6217DDA-080F-4A0F-82DA-21CB8D57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1341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4F49FD8F-B782-4447-94F9-0FB908EA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61341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1C5AC3F7-FFE7-41A8-97D9-11F780FC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341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2780E5A-5895-4FFC-ABAA-05DFC7E1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198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3D8161C-C001-4018-AB01-4DB79450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72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70A4041-60C3-4EE4-814F-39DAA0FB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247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8FF525F-3431-45BA-9269-6071BBB8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771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D9B3A9AF-1404-4236-8C23-6C122C87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295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56F4833-CCED-4B0B-89B9-44F40DCF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41985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341760"/>
          </a:solidFill>
          <a:ln xmlns:a="http://schemas.openxmlformats.org/drawingml/2006/main" w="6191">
            <a:solidFill>
              <a:srgbClr val="341760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AFAF730-7024-4EAA-B852-083CF9BE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477000"/>
            <a:ext cx="304800" cy="190500"/>
          </a:xfrm>
          <a:prstGeom xmlns:a="http://schemas.openxmlformats.org/drawingml/2006/main" prst="roundRect">
            <a:avLst>
              <a:gd name="adj" fmla="val 7500"/>
            </a:avLst>
          </a:prstGeom>
          <a:noFill xmlns:a="http://schemas.openxmlformats.org/drawingml/2006/main"/>
          <a:ln xmlns:a="http://schemas.openxmlformats.org/drawingml/2006/main" w="6191">
            <a:solidFill>
              <a:srgbClr val="C6C6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6654622-3C48-4F93-B95F-F4331B1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41985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2A8920A8-52A0-4348-B2F3-0A61BDCF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1985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30A6692-6620-447C-B4BD-ED887565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641985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A7A185E-8566-41EA-9CE4-7160973E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41985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8D279C70-09EC-4A76-A302-FEE5E8B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772275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8FE0745-AC0A-4388-8962-C623EC32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772275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341760"/>
          </a:solidFill>
          <a:ln xmlns:a="http://schemas.openxmlformats.org/drawingml/2006/main" w="6191">
            <a:solidFill>
              <a:srgbClr val="341760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438640D-B96B-4B8C-A8D1-A80170BE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829425"/>
            <a:ext cx="304800" cy="190500"/>
          </a:xfrm>
          <a:prstGeom xmlns:a="http://schemas.openxmlformats.org/drawingml/2006/main" prst="roundRect">
            <a:avLst>
              <a:gd name="adj" fmla="val 7500"/>
            </a:avLst>
          </a:prstGeom>
          <a:noFill xmlns:a="http://schemas.openxmlformats.org/drawingml/2006/main"/>
          <a:ln xmlns:a="http://schemas.openxmlformats.org/drawingml/2006/main" w="6191">
            <a:solidFill>
              <a:srgbClr val="C6C6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2026B5F-DF22-43F9-BF28-0BB98833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772275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7F37BE7-AE5A-457F-BF99-E283C6E0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6772275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95B29D3-E891-4215-8AB3-9BB18E5F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772275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6CFC833-324E-426B-90AB-75F6ECAB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12470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FEF6C8EB-CDCC-43EE-B408-50E84973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712470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F79D808E-4598-435D-896A-B960C4C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12470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341760"/>
          </a:solidFill>
          <a:ln xmlns:a="http://schemas.openxmlformats.org/drawingml/2006/main" w="6191">
            <a:solidFill>
              <a:srgbClr val="341760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EBB12EC-470E-437E-862C-AAA375C6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181850"/>
            <a:ext cx="304800" cy="190500"/>
          </a:xfrm>
          <a:prstGeom xmlns:a="http://schemas.openxmlformats.org/drawingml/2006/main" prst="roundRect">
            <a:avLst>
              <a:gd name="adj" fmla="val 7500"/>
            </a:avLst>
          </a:prstGeom>
          <a:noFill xmlns:a="http://schemas.openxmlformats.org/drawingml/2006/main"/>
          <a:ln xmlns:a="http://schemas.openxmlformats.org/drawingml/2006/main" w="6191">
            <a:solidFill>
              <a:srgbClr val="C6C6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66C88995-146D-4CA0-B483-0176160F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12470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F8D8A624-0FD6-4A31-802A-C5B478B7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DB76249-0C5D-417C-B57F-4F85B4F8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477125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DB393600-3161-4F8E-86E1-FBCF0A44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7477125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8694C5F5-56B8-4C80-8FC4-9CC63A47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477125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93832871-86B9-4337-B6C1-C025403B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477125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341760"/>
          </a:solidFill>
          <a:ln xmlns:a="http://schemas.openxmlformats.org/drawingml/2006/main" w="6191">
            <a:solidFill>
              <a:srgbClr val="341760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C58226A-157E-4CE1-963E-AA9843A7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534275"/>
            <a:ext cx="304800" cy="190500"/>
          </a:xfrm>
          <a:prstGeom xmlns:a="http://schemas.openxmlformats.org/drawingml/2006/main" prst="roundRect">
            <a:avLst>
              <a:gd name="adj" fmla="val 7500"/>
            </a:avLst>
          </a:prstGeom>
          <a:noFill xmlns:a="http://schemas.openxmlformats.org/drawingml/2006/main"/>
          <a:ln xmlns:a="http://schemas.openxmlformats.org/drawingml/2006/main" w="6191">
            <a:solidFill>
              <a:srgbClr val="C6C6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AF2F6DEA-35F8-45F8-A4D8-3296ADE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477125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2ACA482-9C91-4816-9082-6B34589D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82955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81971DB-4712-4280-85E0-17A8EBE0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782955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219F9A41-8B46-474F-8687-6D13925D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82955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696E038-EABE-4E7C-9D2D-31A5D482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82955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3F2F4"/>
          </a:solidFill>
          <a:ln xmlns:a="http://schemas.openxmlformats.org/drawingml/2006/main" w="6191">
            <a:solidFill>
              <a:srgbClr val="C6C6C6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FAC3F2D4-585B-4116-837E-B36CCA8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829550"/>
            <a:ext cx="304800" cy="3048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341760"/>
          </a:solidFill>
          <a:ln xmlns:a="http://schemas.openxmlformats.org/drawingml/2006/main" w="6191">
            <a:solidFill>
              <a:srgbClr val="341760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DA6C6E9-1B3C-43AC-879E-5EF80C7C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886700"/>
            <a:ext cx="304800" cy="190500"/>
          </a:xfrm>
          <a:prstGeom xmlns:a="http://schemas.openxmlformats.org/drawingml/2006/main" prst="roundRect">
            <a:avLst>
              <a:gd name="adj" fmla="val 7500"/>
            </a:avLst>
          </a:prstGeom>
          <a:noFill xmlns:a="http://schemas.openxmlformats.org/drawingml/2006/main"/>
          <a:ln xmlns:a="http://schemas.openxmlformats.org/drawingml/2006/main" w="6191">
            <a:solidFill>
              <a:srgbClr val="C6C6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0B26EE2-8ECB-4C86-9DB6-0F8F0BB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96075"/>
            <a:ext cx="266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TRAINING SOURCE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667DBC0-2CB6-45F3-BCF5-D9142423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2296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EVALUATION TARGET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E5CAC0F-775E-49CC-96C6-26445161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Per architecture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8785FF27-EF86-4AAD-B7D6-2E2C8FFC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8199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5 source models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× 5 target datasets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= 25 evaluations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B8A0017A-B0B5-46D4-9BCB-7FA09346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734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Across four models: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100 evaluation cells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BB904DFC-3FC3-4A92-834E-30C91A63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86425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417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1760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5119082-1171-4EE7-82A0-C884BEE9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67375"/>
            <a:ext cx="2638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Attribute dataset shift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50715B3-1726-40F6-939D-01E51CF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2250" y="6019800"/>
            <a:ext cx="3000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8919E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47DB534-CE8B-4F6D-BCE7-D04C4CC4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389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7E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PS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3F415374-CE38-4777-8325-B4BBF590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1818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Population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shift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39F4128-69B6-403E-B70A-2D5C3C57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389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B5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738C5E98-31F2-44BB-8B3C-653F6BCD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71818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Device / domain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shift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590EEDB4-6AE7-499F-99AE-2F54A121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389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87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LS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37E2D6DE-A624-4B80-A29A-BC648BBB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71818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Label-schema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shift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DA1F3AEE-0398-46E8-AFC4-32D0135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82002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E98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E98A6"/>
                </a:solidFill>
                <a:latin typeface="Arial"/>
                <a:ea typeface="Arial"/>
                <a:cs typeface="Arial"/>
              </a:rPr>
              <a:t>5-class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2CBC5C01-F976-4678-96CD-779EBCAA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789622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076"/>
          </a:solidFill>
          <a:ln xmlns:a="http://schemas.openxmlformats.org/drawingml/2006/main" w="0">
            <a:solidFill>
              <a:srgbClr val="4D6076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3EF5A6C8-1D45-43A2-8F87-2C46F5C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2002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B7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B7E8C"/>
                </a:solidFill>
                <a:latin typeface="Arial"/>
                <a:ea typeface="Arial"/>
                <a:cs typeface="Arial"/>
              </a:rPr>
              <a:t>2-class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C55702AE-D4D2-4445-9203-7C0FA8BF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0962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Normal vs abnormal ablation estimates the fixable, label-driven portion of the gap.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0ECB9CA-C2D9-4089-A271-E76F5581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86425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417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176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E3C5562-5FBC-4D94-A490-823527AE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67375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Quantify performance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56BE1A31-FD77-4C11-9731-0869C348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82250" y="6019800"/>
            <a:ext cx="4286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8919E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C26FFC6C-0919-40D0-B969-3460D275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7829550"/>
            <a:ext cx="1714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7B4D4581-83F3-43CB-9A51-CD349535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29900" y="6610350"/>
            <a:ext cx="9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53351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9AA048B0-9CF6-4521-82FC-767D8C5F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29900" y="6610350"/>
            <a:ext cx="171450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6C6C6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9012FD8-E005-4437-B4D5-0E1E99B2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29900" y="7317486"/>
            <a:ext cx="24003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53351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DEE493A1-FA58-4396-A726-0B23308F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69930" y="7037070"/>
            <a:ext cx="308610" cy="2804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ABA88643-D7F4-4E9F-9AD6-DF0C9BBD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78540" y="6829806"/>
            <a:ext cx="394335" cy="2072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C26EBF9A-3D51-4FA3-AB74-3E5ED996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572875" y="6695694"/>
            <a:ext cx="428625" cy="134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020AE3A-98EF-4849-8562-03E6B108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001500" y="6610350"/>
            <a:ext cx="342900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053351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71EFB279-6C5C-4FAE-BCFD-8F54D8AE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29900" y="7463790"/>
            <a:ext cx="20574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B7E8C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820459CA-2453-4500-9BC4-FF91D9CA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35640" y="7195566"/>
            <a:ext cx="308610" cy="2682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BB7E8C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C27EAFC5-9E29-421E-B164-7DBC1324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44250" y="6951726"/>
            <a:ext cx="428625" cy="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BB7E8C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2853184B-F51E-4D5F-96F3-A69B1423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572875" y="6756654"/>
            <a:ext cx="394335" cy="195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BB7E8C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9212E1AD-3FAB-4145-9AAA-51D52AF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967210" y="6610350"/>
            <a:ext cx="37719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BB7E8C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DA6DEEA4-71E6-4FFA-B46C-9835F080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29900" y="7549134"/>
            <a:ext cx="308610" cy="2804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A2335D46-DBC1-49BE-A49A-F8A50D08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938510" y="7305294"/>
            <a:ext cx="342900" cy="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C364106-CE85-47F4-ACCE-2F64314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81410" y="7037070"/>
            <a:ext cx="411480" cy="2682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38D69A65-5F6C-4D05-A724-8E72E09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692890" y="6805422"/>
            <a:ext cx="360045" cy="231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3ACD1DA7-A72D-416C-B0F9-1B7DFE50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052935" y="6610350"/>
            <a:ext cx="291465" cy="195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D6076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B7C796E6-F17D-43C0-8A03-D834B5E0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ROC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CD5C70A-DE9C-4CA5-A98F-5928DE34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515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33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3351"/>
                </a:solidFill>
                <a:latin typeface="Arial"/>
                <a:ea typeface="Arial"/>
                <a:cs typeface="Arial"/>
              </a:rPr>
              <a:t>Macro-AUROC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3BE49E4D-0AEC-49C0-9F48-5C152C3C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877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B7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B7E8C"/>
                </a:solidFill>
                <a:latin typeface="Arial"/>
                <a:ea typeface="Arial"/>
                <a:cs typeface="Arial"/>
              </a:rPr>
              <a:t>Per-class AUROC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3C1179F0-E721-44FC-AF5B-385B1512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39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4E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4E82"/>
                </a:solidFill>
                <a:latin typeface="Arial"/>
                <a:ea typeface="Arial"/>
                <a:cs typeface="Arial"/>
              </a:rPr>
              <a:t>Δij and composite Score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83C4787E-824A-48C9-80BA-61431F60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600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6076"/>
                </a:solidFill>
                <a:latin typeface="Arial"/>
                <a:ea typeface="Arial"/>
                <a:cs typeface="Arial"/>
              </a:rPr>
              <a:t>95% bootstrap CI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0D6848EA-3697-45D4-94AB-76DA22A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039100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4D607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D6076"/>
                </a:solidFill>
                <a:latin typeface="Arial"/>
                <a:ea typeface="Arial"/>
                <a:cs typeface="Arial"/>
              </a:rPr>
              <a:t>The diagonal measures in-distribution performance; off-diagonal cells measure external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2132016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2026-09-01T00:44:00.5620000Z</dcterms:created>
  <dcterms:modified xsi:type="dcterms:W3CDTF">2026-09-01T00:44:00.5620000Z</dcterms:modified>
</coreProperties>
</file>