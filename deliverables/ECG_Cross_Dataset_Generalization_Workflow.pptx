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e138a7f6c4c58" /><Relationship Type="http://schemas.openxmlformats.org/officeDocument/2006/relationships/extended-properties" Target="/docProps/app.xml" Id="R83b75c144fb94c4b" /><Relationship Type="http://schemas.openxmlformats.org/officeDocument/2006/relationships/officeDocument" Target="/ppt/presentation.xml" Id="Rea9158cffdf544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1dc7faa01400e"/>
  </p:sldMasterIdLst>
  <p:notesMasterIdLst>
    <p:notesMasterId xmlns:r="http://schemas.openxmlformats.org/officeDocument/2006/relationships" r:id="Re8f8ca01230a4268"/>
  </p:notesMasterIdLst>
  <p:sldIdLst>
    <p:sldId xmlns:r="http://schemas.openxmlformats.org/officeDocument/2006/relationships" id="256" r:id="R571b411c1a854ee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3420b63d564d27" /><Relationship Type="http://schemas.openxmlformats.org/officeDocument/2006/relationships/slideMaster" Target="/ppt/slideMasters/slideMaster1.xml" Id="R32c1dc7faa01400e" /><Relationship Type="http://schemas.openxmlformats.org/officeDocument/2006/relationships/notesMaster" Target="/ppt/notesMasters/notesMaster1.xml" Id="Re8f8ca01230a4268" /><Relationship Type="http://schemas.openxmlformats.org/officeDocument/2006/relationships/presProps" Target="/ppt/presProps.xml" Id="Rb6edd0aacac04c70" /><Relationship Type="http://schemas.openxmlformats.org/officeDocument/2006/relationships/tableStyles" Target="/ppt/tableStyles.xml" Id="R8d1dfb30d9164746" /><Relationship Type="http://schemas.openxmlformats.org/officeDocument/2006/relationships/slide" Target="/ppt/slides/slide1.xml" Id="R571b411c1a85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addb5902a4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72abc4147340a6" /><Relationship Type="http://schemas.openxmlformats.org/officeDocument/2006/relationships/notesMaster" Target="/ppt/notesMasters/notesMaster1.xml" Id="Rc18fe489e982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workflow screenshots (visual direction only).</a:t>
            </a:r>
          </a:p>
          <a:p xmlns:a="http://schemas.openxmlformats.org/drawingml/2006/main">
            <a:r>
              <a:t>- Seo J et al., Scientific Reports 2021: https://www.nature.com/articles/s41598-021-97308-1</a:t>
            </a:r>
          </a:p>
          <a:p xmlns:a="http://schemas.openxmlformats.org/drawingml/2006/main">
            <a:r>
              <a:t>- Ribeiro AH et al., Nature Communications 2020: https://www.nature.com/articles/s41467-020-15432-4</a:t>
            </a:r>
          </a:p>
          <a:p xmlns:a="http://schemas.openxmlformats.org/drawingml/2006/main">
            <a:r>
              <a:t>- ECG-FM workflow reference, JAMIA Open: https://academic.oup.com/jamiaopen/article/8/5/ooaf122/8287827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e293b97f740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e264222b464be1" /><Relationship Type="http://schemas.openxmlformats.org/officeDocument/2006/relationships/slideLayout" Target="/ppt/slideLayouts/slideLayout1.xml" Id="R9ca58dfcf87d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a58dfcf87d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146b7a553473a" /><Relationship Type="http://schemas.openxmlformats.org/officeDocument/2006/relationships/notesSlide" Target="/ppt/notesSlides/notesSlide1.xml" Id="R31caee81d2ad4a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6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D6611AE5-AB80-4072-B3DD-094DB4B7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390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52736"/>
                </a:solidFill>
              </a:defRPr>
            </a:pPr>
            <a:r>
              <a:rPr sz="3750" b="1">
                <a:solidFill>
                  <a:srgbClr val="152736"/>
                </a:solidFill>
              </a:rPr>
              <a:t>ECG Cross-Dataset Generalization Benchmark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B94DB6AF-CB86-47C8-8EAC-A1B2F991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38200"/>
            <a:ext cx="1200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D79"/>
                </a:solidFill>
              </a:defRPr>
            </a:pPr>
            <a:r>
              <a:rPr sz="1500" b="0">
                <a:solidFill>
                  <a:srgbClr val="5D6D79"/>
                </a:solidFill>
              </a:rPr>
              <a:t>A unified workflow for harmonizing five clinical ECG datasets, training four model families, and measuring transfer across institutions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36476-D8AC-459F-8C3B-58AF79D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1228725"/>
            <a:ext cx="3619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C9B9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745D8-364C-4134-A0AB-0C6631E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19400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2736"/>
          </a:solidFill>
          <a:ln xmlns:a="http://schemas.openxmlformats.org/drawingml/2006/main" w="0">
            <a:solidFill>
              <a:srgbClr val="1527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59040-D87E-4D61-B0DF-EDA6B4BB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19400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2736"/>
          </a:solidFill>
          <a:ln xmlns:a="http://schemas.openxmlformats.org/drawingml/2006/main" w="0">
            <a:solidFill>
              <a:srgbClr val="1527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F940F-C7FB-4E84-8166-DE4BA8E0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4362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2736"/>
          </a:solidFill>
          <a:ln xmlns:a="http://schemas.openxmlformats.org/drawingml/2006/main" w="0">
            <a:solidFill>
              <a:srgbClr val="1527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A9DFE-D83B-4230-AA96-C70EF48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14362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2736"/>
          </a:solidFill>
          <a:ln xmlns:a="http://schemas.openxmlformats.org/drawingml/2006/main" w="0">
            <a:solidFill>
              <a:srgbClr val="1527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CBAAB-29ED-49D3-BBF7-8ED47B07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58950" y="5410200"/>
            <a:ext cx="9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27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B4545-2DA0-458D-B93C-0A8E80BD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04850" y="5505450"/>
            <a:ext cx="13754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27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E8EDE-16DE-4FA9-B479-440CF00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2736"/>
          </a:solidFill>
          <a:ln xmlns:a="http://schemas.openxmlformats.org/drawingml/2006/main" w="0">
            <a:solidFill>
              <a:srgbClr val="1527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09601-B004-440F-B321-E775E407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8C5"/>
          </a:solidFill>
          <a:ln xmlns:a="http://schemas.openxmlformats.org/drawingml/2006/main" w="0">
            <a:solidFill>
              <a:srgbClr val="3B78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C690A-99E6-462E-B546-1A7045C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736"/>
                </a:solidFill>
              </a:defRPr>
            </a:pPr>
            <a:r>
              <a:rPr sz="1800" b="1">
                <a:solidFill>
                  <a:srgbClr val="152736"/>
                </a:solidFill>
              </a:rPr>
              <a:t>Five clinical ECG datasets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3ABEA-E3F1-43CD-A342-E071B6D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819275"/>
            <a:ext cx="4048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B78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3FE62-67DA-4A00-B9ED-31F61D9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50EB-475E-4FB7-B79E-97BF2C47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7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A41D3-7438-49C0-8A00-6DF9DA6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28028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B23E3-BE20-42FB-ABF3-46BB515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3950" y="226161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31E28-E96A-441A-BCFC-EEAFF65B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5388" y="226161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3D9E8-5AC4-4BC6-BF10-FC41485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66825" y="228028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DCE8D-40DC-47F6-BDA6-D56ED6D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6838" y="228028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A78C6-1369-475C-843B-313E3BB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6850" y="219494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54BB6-EEA6-4986-82BB-D037C22D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2575" y="219494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CE616-F521-4408-95DD-B84C7B36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24013" y="226161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D6371-D406-48D8-A171-1BF289EE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95450" y="226161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0E053-2767-4461-8768-81F6EC2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5463" y="228028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6DFFE-A05A-456D-B372-8E9792A8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24050" y="224561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DFC6C-BF4C-40B0-A7DE-DE125038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24063" y="224561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8CD6C-6B0E-40BB-998A-A5D06D6D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228028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78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AFAE5-EC82-472C-80CE-534D77A9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2736"/>
                </a:solidFill>
              </a:defRPr>
            </a:pPr>
            <a:r>
              <a:rPr sz="1163" b="1">
                <a:solidFill>
                  <a:srgbClr val="152736"/>
                </a:solidFill>
              </a:rPr>
              <a:t>PTB-XL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9A2CF-C787-4F1C-BE45-F96D5C98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9"/>
                </a:solidFill>
              </a:defRPr>
            </a:pPr>
            <a:r>
              <a:rPr sz="975" b="0">
                <a:solidFill>
                  <a:srgbClr val="5D6D79"/>
                </a:solidFill>
              </a:rPr>
              <a:t>21,799 · Germany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49FAC-80AF-4BAA-A880-B1C36AEF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1181B-BD77-4E76-82FC-FCBD4A12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9B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34EB6-7737-4099-B201-2CBA03F7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228028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71995-EDE3-4693-9985-E3C6BC9D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28950" y="226161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8EF36-ACD0-4404-9794-F650BF3F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0388" y="226161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E5F02F-11B9-47D3-BDE5-5204281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71825" y="228028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4804AE-111C-4A4C-A016-9997FC9C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1838" y="228028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9271A5-EEE0-420A-98F8-D8106D2C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71850" y="219494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C6303C-8E19-4985-A003-7B3122B5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57575" y="219494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05CCDF-5B65-4260-9CF2-0E59F2A0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29013" y="226161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21880A-5E66-4B44-A09C-48C43EC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226161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7AD437-F418-4E7F-BD02-147E1880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0463" y="228028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82FAA-EADB-4757-AF25-2CE8496B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9050" y="224561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E10C63-E6AA-4A5D-8803-C6B365BA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29063" y="224561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05DA7E-CBC9-4F50-B3A1-6940D3F5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28028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C9B9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4DA60A-4BE8-4653-84C9-43DF62D8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0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2736"/>
                </a:solidFill>
              </a:defRPr>
            </a:pPr>
            <a:r>
              <a:rPr sz="1163" b="1">
                <a:solidFill>
                  <a:srgbClr val="152736"/>
                </a:solidFill>
              </a:rPr>
              <a:t>MIMIC-IV-ECG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EE47B-3A1D-4964-B017-34612C2B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03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9"/>
                </a:solidFill>
              </a:defRPr>
            </a:pPr>
            <a:r>
              <a:rPr sz="975" b="0">
                <a:solidFill>
                  <a:srgbClr val="5D6D79"/>
                </a:solidFill>
              </a:rPr>
              <a:t>50,000 sample · USA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C4123D-06D2-4D9E-A80E-7B56DB3A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D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CB834F-35DB-4C81-AAA5-7F96BB3F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ACBC6B-0B93-4E97-849D-BE9F3FA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25183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E01A9D-A340-47E7-8A36-4C9183FC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3950" y="323316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1162DC-D41D-4536-9ED8-B1A64B6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5388" y="323316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16C5C2-47FE-49AF-AF64-E8704E6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66825" y="325183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59F233-402C-42A2-A0E8-CC89B47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6838" y="325183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4658B8-AFBD-4761-9499-77E764CE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6850" y="316649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426631-623F-4BFA-9E54-B640B1B3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2575" y="316649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822565-D914-41E7-94F4-AAD60E1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24013" y="323316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7A659B-100D-4ABD-8B41-711BEC2D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95450" y="323316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4BFA5B-E96A-4363-BE91-961CB9AC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5463" y="325183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8C765F-7C0D-482D-AD71-4131F37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24050" y="321716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4C3853-4DA4-42F6-92DE-5833D11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24063" y="321716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D54615-368B-498B-9341-1F1DA6F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325183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08B4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9C132F-DC35-4D1F-AFE7-6E8D249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2736"/>
                </a:solidFill>
              </a:defRPr>
            </a:pPr>
            <a:r>
              <a:rPr sz="1163" b="1">
                <a:solidFill>
                  <a:srgbClr val="152736"/>
                </a:solidFill>
              </a:rPr>
              <a:t>CPSC2018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18A0E0-D384-4A35-B419-F28B3531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9"/>
                </a:solidFill>
              </a:defRPr>
            </a:pPr>
            <a:r>
              <a:rPr sz="975" b="0">
                <a:solidFill>
                  <a:srgbClr val="5D6D79"/>
                </a:solidFill>
              </a:rPr>
              <a:t>6,877 · China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BC43B5-B965-4D05-82DF-940AD10C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D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823CFD-2A9A-48B5-98DC-F4F23E5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04A00F-D311-4F11-99EC-35B04861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325183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DD5654-1911-4B43-A140-0EDE3BC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28950" y="323316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5EF019-50AE-4B47-B43C-5DB10612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0388" y="323316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4DB3C4-BFCC-4194-B1C2-3CBA162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71825" y="325183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E4FB8C-C251-4B0C-B9B7-C17C0B8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1838" y="325183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0E988C-47B2-47B4-B621-5CD90AC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71850" y="316649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DFA5B1B-358F-4A6A-B4D0-CA22896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57575" y="316649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1C3C93-A349-489D-9788-82FC90E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29013" y="323316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FAFB0C-C5B3-441F-BDE2-FECBF942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323316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C7CE2DF-5883-4D0C-8189-BC6743B4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0463" y="325183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F11E29-3CFE-4293-BDC4-93CD259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9050" y="321716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6DDBEA-070A-476D-8F08-50C13ECA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29063" y="321716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F21B1A-EE3F-422B-B683-A7CEBE04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25183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666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C4E0B0-97E6-4DE3-A878-6836BAF6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2736"/>
                </a:solidFill>
              </a:defRPr>
            </a:pPr>
            <a:r>
              <a:rPr sz="1163" b="1">
                <a:solidFill>
                  <a:srgbClr val="152736"/>
                </a:solidFill>
              </a:rPr>
              <a:t>Georgia 12-Lead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C8D4E5-0289-49BD-9342-7202821B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718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9"/>
                </a:solidFill>
              </a:defRPr>
            </a:pPr>
            <a:r>
              <a:rPr sz="975" b="0">
                <a:solidFill>
                  <a:srgbClr val="5D6D79"/>
                </a:solidFill>
              </a:rPr>
              <a:t>10,344 · USA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EE330C2-182F-445E-ABFE-D5CD5E7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D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99C476-A881-432A-9E81-412A209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5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8A5D03-0D3E-4047-8B7A-5EF66DEF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422338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010EC6-1C00-42C9-8808-E3B299F4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76450" y="4204716"/>
            <a:ext cx="7143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EF8E00-594A-4A34-8C53-99D4D02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47888" y="4204716"/>
            <a:ext cx="71438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7F825F-80C6-468F-9F4C-43CDA5A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19325" y="4223385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9FEA8B-2389-435F-9BA0-1665B3CE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19338" y="4223385"/>
            <a:ext cx="10001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E0E613-83A1-4F3D-B80F-FCBC59C0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19350" y="4138041"/>
            <a:ext cx="85725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8EC1B6-EA93-4117-B35B-45CE64E3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4138041"/>
            <a:ext cx="71438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BCA260-DB77-454C-80F9-D113180B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76513" y="4204716"/>
            <a:ext cx="71438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04BD665-4650-41F0-9AFE-24240998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47950" y="4204716"/>
            <a:ext cx="100013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896E616-2002-45B4-8E2B-E226F7A5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47963" y="4223385"/>
            <a:ext cx="12858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DF827D4-5D06-4CD6-B3C5-F2DB78B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76550" y="4188714"/>
            <a:ext cx="100013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3E97B8-F57A-4072-B709-3ACA14B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6563" y="4188714"/>
            <a:ext cx="12858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11FAB5-D9BE-49E5-9993-68DEBA6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5150" y="4223385"/>
            <a:ext cx="228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857B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61E27B-128D-4DA7-A5CF-8C200B07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2736"/>
                </a:solidFill>
              </a:defRPr>
            </a:pPr>
            <a:r>
              <a:rPr sz="1163" b="1">
                <a:solidFill>
                  <a:srgbClr val="152736"/>
                </a:solidFill>
              </a:rPr>
              <a:t>CODE-15%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2A9C75E-4DB7-47CE-B7D0-E19E3252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434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D79"/>
                </a:solidFill>
              </a:defRPr>
            </a:pPr>
            <a:r>
              <a:rPr sz="975" b="0">
                <a:solidFill>
                  <a:srgbClr val="5D6D79"/>
                </a:solidFill>
              </a:rPr>
              <a:t>50,000 sample · Brazil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7F41534-CDD5-4146-BBB7-F6900906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D79"/>
                </a:solidFill>
              </a:defRPr>
            </a:pPr>
            <a:r>
              <a:rPr sz="1200" b="0">
                <a:solidFill>
                  <a:srgbClr val="5D6D79"/>
                </a:solidFill>
              </a:rPr>
              <a:t>Each dataset keeps its original patient population, device characteristics, and label vocabulary.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E96F5A-5055-4CE1-9E47-AD510500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94"/>
          </a:solidFill>
          <a:ln xmlns:a="http://schemas.openxmlformats.org/drawingml/2006/main" w="0">
            <a:solidFill>
              <a:srgbClr val="2C9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1121B48-4C39-4C0F-99B4-C34E9FA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668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736"/>
                </a:solidFill>
              </a:defRPr>
            </a:pPr>
            <a:r>
              <a:rPr sz="1800" b="1">
                <a:solidFill>
                  <a:srgbClr val="152736"/>
                </a:solidFill>
              </a:rPr>
              <a:t>Harmonize signals and labels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0CF30B7-A38C-495D-9050-75DBC040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1819275"/>
            <a:ext cx="400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C9B9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DDEC6D9-BAC3-4483-A910-AA8BA7B7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907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736"/>
                </a:solidFill>
              </a:defRPr>
            </a:pPr>
            <a:r>
              <a:rPr sz="1275" b="1">
                <a:solidFill>
                  <a:srgbClr val="152736"/>
                </a:solidFill>
              </a:rPr>
              <a:t>Raw 12-lead ECG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DA5304-2CF8-4192-B6F7-F22428E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2409825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5D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EDAF74-034D-4FC4-921C-5A45B048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2442210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665C298-0C29-4AE9-A1F0-ACD471B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2423541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8A7F8F2-F082-4BD8-9D39-8DA46C4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2423541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2213923-B4DE-4EB2-9FC9-AACCA9C4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2442210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078B498-8E58-4871-AE60-52FE0E6C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2442210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919283D-06DF-4E99-924E-305E01C6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2356866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4A815F-52BA-4C52-A285-226EB4A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2356866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0704877-E0BA-450F-92EF-6822CCAE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2423541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C2829F2-37EC-468B-96C1-2578D83E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2423541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52D5F0F-BF03-4CB7-A607-33B66158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2442210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2065C95-72FF-46BA-ABF8-4B54E353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2407539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CB71125-4D9D-4F95-BA8F-1C3863FF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2407539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2531ED8-9BA7-4178-A8E3-3F6E722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2442210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B78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2CEC6FA-800F-46FC-843F-82A759F0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2647950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5DC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C75B1B-85A4-42F1-B58C-FFE5B383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2680335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85D0C86-A120-491E-987A-EE7D37F6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2661666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935F3D0-ED76-4EDC-B3C2-6CBC0AF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2661666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D90B95-62B9-4077-A8B2-D149D3B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2680335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4E4FBFB-5FC5-49EA-898E-2FE1C215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2680335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FD1FE5E-069B-4886-ADF4-1DBA2CCE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2594991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E8A533F-5070-4C25-8D02-B8C7B5B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2594991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291C77E-CC15-4087-8953-C751D443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2661666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14FBD3A-7573-4173-9C8F-784B5EC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2661666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FF4EE23-F709-423B-B923-12876DE2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2680335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33F2A7-C6A9-48FF-9BAD-1A5E205A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2645664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7D43FA-6C32-44EB-A439-9DD253E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2645664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5EED4D-C374-4DA9-B328-95DE543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2680335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9B94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0982EB7-195F-4674-857B-62AC327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2886075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5DC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216AB18-9488-4D0B-9F1E-3720AFE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2918460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2AEB821-74CF-493F-9815-4FCBF81F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2899791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226595F-9EE8-445F-B399-5608953F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2899791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1E3ADF8-5381-41E3-83DD-9F255FA2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2918460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4F20017-271C-434D-8DF8-6F86E1E8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2918460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5CBF7B8-94F7-49FA-9A89-4A4E18E8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2833116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6FF39A2-8F8A-475A-B657-955F12B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2833116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98EBA1-C8C4-4B85-85C9-8B4AC8D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2899791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C58E671-7F68-4CA5-9192-FAF2F454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2899791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E252FA-EC3D-47D7-B0F4-E4A5C300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2918460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ABF66C3-CD43-4CA6-978E-9A3C8B44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2883789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0ECD612-9F88-42F0-8CBC-B4E1A0BC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2883789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BB87932-C630-4CAA-89D7-45B45CA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2918460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08B4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A11522E-8F30-4D45-8F6A-A090164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3124200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5DC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AEB480C-98BD-4667-A981-9547A100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3156585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CA49F70-C939-4C9C-A7D5-1A638FD1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3137916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16777E8-7705-4FCE-97E0-7FE45237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3137916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82990AD-A4D3-46A6-9453-CA86BB72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3156585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529938D-0A3D-43C1-9178-486C6A7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3156585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466A63C-3143-4F83-9607-58DA989C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3071241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67DFE5A-28DD-42CA-A23D-9A6440CB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3071241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E13F43C-4BF6-4251-8A3D-2D9DA67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3137916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25B3965-A752-41D2-834F-EF3AAD4E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3137916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A712190-AA5C-402C-B64D-949ED97F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3156585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F82C1B7-AF44-4714-AB6F-378D298A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3121914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7C421FA-7D8A-4E97-9F50-D4440EBF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3121914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B5B4A24-7F82-4133-A30D-AC124F0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3156585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6662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E17EDA8-3C55-4D48-B3A2-54BEE33F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3362325"/>
            <a:ext cx="1390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5D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0B6F6AA-13CF-4182-8CC1-8E99925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3394710"/>
            <a:ext cx="1554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8AE9119-7BCA-4304-8772-E6ECFA1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27598" y="3376041"/>
            <a:ext cx="64770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8998983-C229-40F8-A188-782C77B6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2368" y="3376041"/>
            <a:ext cx="64770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69ACCE9-9FC5-4191-A222-C371F13F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138" y="3394710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2BA6AAF-A360-4B0A-95C5-26403FD8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7816" y="3394710"/>
            <a:ext cx="9067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27E6A8D-E492-481B-90F3-D7863D6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494" y="3309366"/>
            <a:ext cx="77724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6863631-8D41-4456-ADF3-CD4D5E55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16218" y="3309366"/>
            <a:ext cx="6477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765C4D1-72B1-4345-92D2-D955959C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80988" y="3376041"/>
            <a:ext cx="64770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D281BA8-C8B9-4CA5-B6B3-CDA36862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45758" y="3376041"/>
            <a:ext cx="90678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4B67920-7FF1-4258-8E36-FE7C31D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6436" y="3394710"/>
            <a:ext cx="1165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91F377F-BC98-4D85-AD5F-678C31A9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3022" y="3360039"/>
            <a:ext cx="90678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B0026C1-81B8-49D4-A12B-FF66F101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3700" y="3360039"/>
            <a:ext cx="116586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D58AE09-0525-451F-8F87-67F5716F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0286" y="3394710"/>
            <a:ext cx="20726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57B6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912C41B-8CE8-43D0-9E27-AF3CD44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2352675"/>
            <a:ext cx="914400" cy="10477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19050">
            <a:solidFill>
              <a:srgbClr val="2C9B94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5E63A96-7117-45B3-9445-E521A53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C9B94"/>
                </a:solidFill>
              </a:defRPr>
            </a:pPr>
            <a:r>
              <a:rPr sz="1013" b="1">
                <a:solidFill>
                  <a:srgbClr val="2C9B94"/>
                </a:solidFill>
              </a:rPr>
              <a:t>standardize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3C387B0-00F4-4A35-9171-E93C54AB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09800"/>
            <a:ext cx="762000" cy="1352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C9B94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70F1D5C-0F4C-4772-8873-12E57A6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050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9B94"/>
                </a:solidFill>
              </a:defRPr>
            </a:pPr>
            <a:r>
              <a:rPr sz="1500" b="1">
                <a:solidFill>
                  <a:srgbClr val="2C9B94"/>
                </a:solidFill>
              </a:rPr>
              <a:t>10 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52AACB2-4FB0-4A9F-AB20-0CAD596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736"/>
                </a:solidFill>
              </a:defRPr>
            </a:pPr>
            <a:r>
              <a:rPr sz="1275" b="1">
                <a:solidFill>
                  <a:srgbClr val="152736"/>
                </a:solidFill>
              </a:rPr>
              <a:t>500 Hz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8DC0A7D-03DC-4895-852C-E8E3E52A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736"/>
                </a:solidFill>
              </a:defRPr>
            </a:pPr>
            <a:r>
              <a:rPr sz="1200" b="1">
                <a:solidFill>
                  <a:srgbClr val="152736"/>
                </a:solidFill>
              </a:rPr>
              <a:t>5,000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5116F0B-B48D-41F6-9E73-E0C999F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19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D79"/>
                </a:solidFill>
              </a:defRPr>
            </a:pPr>
            <a:r>
              <a:rPr sz="900" b="0">
                <a:solidFill>
                  <a:srgbClr val="5D6D79"/>
                </a:solidFill>
              </a:rPr>
              <a:t>samples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3E3ADA3-78AB-4974-8A1A-1F2DECFA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528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736"/>
                </a:solidFill>
              </a:defRPr>
            </a:pPr>
            <a:r>
              <a:rPr sz="1200" b="1">
                <a:solidFill>
                  <a:srgbClr val="152736"/>
                </a:solidFill>
              </a:rPr>
              <a:t>Canonical lead order  ·  consistent scaling  ·  patient-safe 80/10/10 split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CEF769A-39D5-4D02-8439-2E38361C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86250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3B78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6708BE0-3AF7-4AD7-8A18-3BE68BA2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736"/>
                </a:solidFill>
              </a:defRPr>
            </a:pPr>
            <a:r>
              <a:rPr sz="1013" b="1">
                <a:solidFill>
                  <a:srgbClr val="152736"/>
                </a:solidFill>
              </a:rPr>
              <a:t>Normal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4547D64-414C-481F-9E5F-67B921A6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1430">
            <a:solidFill>
              <a:srgbClr val="2C9B94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F701534-E9AB-4167-8DF0-AF27743C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736"/>
                </a:solidFill>
              </a:defRPr>
            </a:pPr>
            <a:r>
              <a:rPr sz="1013" b="1">
                <a:solidFill>
                  <a:srgbClr val="152736"/>
                </a:solidFill>
              </a:rPr>
              <a:t>AF/AFL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8E77A61-FCC2-4992-BD19-5421D57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F0E5"/>
          </a:solidFill>
          <a:ln xmlns:a="http://schemas.openxmlformats.org/drawingml/2006/main" w="11430">
            <a:solidFill>
              <a:srgbClr val="E08B4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7B636E7-C9C9-4A98-BA67-5C68692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736"/>
                </a:solidFill>
              </a:defRPr>
            </a:pPr>
            <a:r>
              <a:rPr sz="1013" b="1">
                <a:solidFill>
                  <a:srgbClr val="152736"/>
                </a:solidFill>
              </a:rPr>
              <a:t>1° AVB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F0E85B6-AD74-4360-8233-39C14D7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AEA"/>
          </a:solidFill>
          <a:ln xmlns:a="http://schemas.openxmlformats.org/drawingml/2006/main" w="11430">
            <a:solidFill>
              <a:srgbClr val="D86662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8DBEE60-B549-44CC-B7D0-39EDD906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736"/>
                </a:solidFill>
              </a:defRPr>
            </a:pPr>
            <a:r>
              <a:rPr sz="1013" b="1">
                <a:solidFill>
                  <a:srgbClr val="152736"/>
                </a:solidFill>
              </a:rPr>
              <a:t>LBBB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42221D2-0DFA-4BCA-BB9A-7E74364E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F7"/>
          </a:solidFill>
          <a:ln xmlns:a="http://schemas.openxmlformats.org/drawingml/2006/main" w="11430">
            <a:solidFill>
              <a:srgbClr val="7857B6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36152AB-3D89-42A2-A042-6049DE0F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736"/>
                </a:solidFill>
              </a:defRPr>
            </a:pPr>
            <a:r>
              <a:rPr sz="1013" b="1">
                <a:solidFill>
                  <a:srgbClr val="152736"/>
                </a:solidFill>
              </a:rPr>
              <a:t>RBBB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E327C2A-E454-4A62-AB6B-B017BA48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D79"/>
                </a:solidFill>
              </a:defRPr>
            </a:pPr>
            <a:r>
              <a:rPr sz="1200" b="0">
                <a:solidFill>
                  <a:srgbClr val="5D6D79"/>
                </a:solidFill>
              </a:rPr>
              <a:t>Dataset-specific diagnoses are mapped into one precision-first five-label schema.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74D9BB1-260A-4994-A75D-3ECA43D5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57B6"/>
          </a:solidFill>
          <a:ln xmlns:a="http://schemas.openxmlformats.org/drawingml/2006/main" w="0">
            <a:solidFill>
              <a:srgbClr val="7857B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8376F2D-CDA7-43A7-8BBC-C18D9447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668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736"/>
                </a:solidFill>
              </a:defRPr>
            </a:pPr>
            <a:r>
              <a:rPr sz="1800" b="1">
                <a:solidFill>
                  <a:srgbClr val="152736"/>
                </a:solidFill>
              </a:rPr>
              <a:t>Four model families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ABEC364-C365-4CA2-A67F-A0E99F73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1819275"/>
            <a:ext cx="4381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857B6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CAD28EE-C395-4AE2-944B-3742D8E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20A6CCE-5889-48F6-A716-E121D66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9456933-0D24-4F9F-8087-4C88B004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86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1B16971-4690-4C9E-9777-8E5E229B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14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1760B9A-4482-4B16-A4D5-2D5A4189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8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556" name=""/>
          <p:cNvCxnSpPr>
            <a:stCxn xmlns:a="http://schemas.openxmlformats.org/drawingml/2006/main" id="196" idx="7"/>
            <a:endCxn xmlns:a="http://schemas.openxmlformats.org/drawingml/2006/main" id="197" idx="3"/>
          </p:cNvCxnSpPr>
          <p:nvPr/>
        </p:nvCxnSpPr>
        <p:spPr>
          <a:xfrm xmlns:a="http://schemas.openxmlformats.org/drawingml/2006/main" flipV="1">
            <a:off x="10591321" y="2171221"/>
            <a:ext cx="21050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B78C5"/>
            </a:solidFill>
            <a:prstDash val="solid"/>
          </a:ln>
        </p:spPr>
      </p:cxnSp>
      <p:cxnSp>
        <p:nvCxnSpPr>
          <p:cNvPr id="557" name=""/>
          <p:cNvCxnSpPr>
            <a:stCxn xmlns:a="http://schemas.openxmlformats.org/drawingml/2006/main" id="197" idx="5"/>
            <a:endCxn xmlns:a="http://schemas.openxmlformats.org/drawingml/2006/main" id="200" idx="1"/>
          </p:cNvCxnSpPr>
          <p:nvPr/>
        </p:nvCxnSpPr>
        <p:spPr>
          <a:xfrm xmlns:a="http://schemas.openxmlformats.org/drawingml/2006/main">
            <a:off x="10896121" y="2171221"/>
            <a:ext cx="22955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B78C5"/>
            </a:solidFill>
            <a:prstDash val="solid"/>
          </a:ln>
        </p:spPr>
      </p:cxnSp>
      <p:cxnSp>
        <p:nvCxnSpPr>
          <p:cNvPr id="558" name=""/>
          <p:cNvCxnSpPr>
            <a:stCxn xmlns:a="http://schemas.openxmlformats.org/drawingml/2006/main" id="196" idx="6"/>
            <a:endCxn xmlns:a="http://schemas.openxmlformats.org/drawingml/2006/main" id="198" idx="2"/>
          </p:cNvCxnSpPr>
          <p:nvPr/>
        </p:nvCxnSpPr>
        <p:spPr>
          <a:xfrm xmlns:a="http://schemas.openxmlformats.org/drawingml/2006/main">
            <a:off x="10610850" y="23526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B78C5"/>
            </a:solidFill>
            <a:prstDash val="solid"/>
          </a:ln>
        </p:spPr>
      </p:cxnSp>
      <p:cxnSp>
        <p:nvCxnSpPr>
          <p:cNvPr id="559" name=""/>
          <p:cNvCxnSpPr>
            <a:stCxn xmlns:a="http://schemas.openxmlformats.org/drawingml/2006/main" id="198" idx="6"/>
            <a:endCxn xmlns:a="http://schemas.openxmlformats.org/drawingml/2006/main" id="200" idx="2"/>
          </p:cNvCxnSpPr>
          <p:nvPr/>
        </p:nvCxnSpPr>
        <p:spPr>
          <a:xfrm xmlns:a="http://schemas.openxmlformats.org/drawingml/2006/main">
            <a:off x="10915650" y="2352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B78C5"/>
            </a:solidFill>
            <a:prstDash val="solid"/>
          </a:ln>
        </p:spPr>
      </p:cxnSp>
      <p:cxnSp>
        <p:nvCxnSpPr>
          <p:cNvPr id="560" name=""/>
          <p:cNvCxnSpPr>
            <a:stCxn xmlns:a="http://schemas.openxmlformats.org/drawingml/2006/main" id="196" idx="5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10591321" y="2399821"/>
            <a:ext cx="21050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B78C5"/>
            </a:solidFill>
            <a:prstDash val="solid"/>
          </a:ln>
        </p:spPr>
      </p:cxnSp>
      <p:cxnSp>
        <p:nvCxnSpPr>
          <p:cNvPr id="561" name=""/>
          <p:cNvCxnSpPr>
            <a:stCxn xmlns:a="http://schemas.openxmlformats.org/drawingml/2006/main" id="199" idx="7"/>
            <a:endCxn xmlns:a="http://schemas.openxmlformats.org/drawingml/2006/main" id="200" idx="3"/>
          </p:cNvCxnSpPr>
          <p:nvPr/>
        </p:nvCxnSpPr>
        <p:spPr>
          <a:xfrm xmlns:a="http://schemas.openxmlformats.org/drawingml/2006/main" flipV="1">
            <a:off x="10896121" y="2399821"/>
            <a:ext cx="229557" cy="13430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B78C5"/>
            </a:solidFill>
            <a:prstDash val="solid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54390FF-8046-4037-8670-7AA9806B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736"/>
                </a:solidFill>
              </a:defRPr>
            </a:pPr>
            <a:r>
              <a:rPr sz="1425" b="1">
                <a:solidFill>
                  <a:srgbClr val="152736"/>
                </a:solidFill>
              </a:rPr>
              <a:t>InceptionTime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B79C3B1-DB81-42EE-8224-934B25CA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526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D79"/>
                </a:solidFill>
              </a:defRPr>
            </a:pPr>
            <a:r>
              <a:rPr sz="1088" b="0">
                <a:solidFill>
                  <a:srgbClr val="5D6D79"/>
                </a:solidFill>
              </a:rPr>
              <a:t>trained from scratch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5E02F6A-AAC4-401C-961B-A8722FE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21717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659A239-2CFA-485B-B1CF-84137AA1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0955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7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963D9DB-5CAA-4B75-8547-A684E9E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0955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7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2A9B0BF-16BD-4ACB-9AE3-14AF90D3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2955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7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68F2E52-2BC2-4B52-A98B-039838B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2955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7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6239446-84C0-4A61-A672-16B78CA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4955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7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AA7B783-10C2-4255-A63B-7937612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33700"/>
            <a:ext cx="209550" cy="3619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1430">
            <a:solidFill>
              <a:srgbClr val="2C9B94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465FFE1-1C66-41A4-B8C7-4D5D417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33700"/>
            <a:ext cx="209550" cy="3619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1430">
            <a:solidFill>
              <a:srgbClr val="2C9B94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752D46B-D8ED-4324-BADC-2DCC63A9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33700"/>
            <a:ext cx="209550" cy="3619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1430">
            <a:solidFill>
              <a:srgbClr val="2C9B94"/>
            </a:solidFill>
            <a:prstDash val="solid"/>
          </a:ln>
        </p:spPr>
      </p:sp>
      <p:cxnSp>
        <p:nvCxnSpPr>
          <p:cNvPr id="573" name=""/>
          <p:cNvCxnSpPr>
            <a:stCxn xmlns:a="http://schemas.openxmlformats.org/drawingml/2006/main" id="215" idx="3"/>
            <a:endCxn xmlns:a="http://schemas.openxmlformats.org/drawingml/2006/main" id="216" idx="1"/>
          </p:cNvCxnSpPr>
          <p:nvPr/>
        </p:nvCxnSpPr>
        <p:spPr>
          <a:xfrm xmlns:a="http://schemas.openxmlformats.org/drawingml/2006/main">
            <a:off x="10687050" y="31146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9B94"/>
            </a:solidFill>
            <a:prstDash val="solid"/>
            <a:headEnd type="triangle" w="sm" len="sm"/>
          </a:ln>
        </p:spPr>
      </p:cxnSp>
      <p:cxnSp>
        <p:nvCxnSpPr>
          <p:cNvPr id="574" name=""/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11010900" y="31146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9B94"/>
            </a:solidFill>
            <a:prstDash val="solid"/>
            <a:headEnd type="triangle" w="sm" len="sm"/>
          </a:ln>
        </p:spPr>
      </p:cxnSp>
      <p:cxnSp>
        <p:nvCxnSpPr>
          <p:cNvPr id="575" name=""/>
          <p:cNvCxnSpPr>
            <a:stCxn xmlns:a="http://schemas.openxmlformats.org/drawingml/2006/main" id="215" idx="0"/>
            <a:endCxn xmlns:a="http://schemas.openxmlformats.org/drawingml/2006/main" id="217" idx="0"/>
          </p:cNvCxnSpPr>
          <p:nvPr/>
        </p:nvCxnSpPr>
        <p:spPr>
          <a:xfrm xmlns:a="http://schemas.openxmlformats.org/drawingml/2006/main">
            <a:off x="10582275" y="2705100"/>
            <a:ext cx="647700" cy="228600"/>
          </a:xfrm>
          <a:prstGeom xmlns:a="http://schemas.openxmlformats.org/drawingml/2006/main" prst="bentConnector4">
            <a:avLst/>
          </a:prstGeom>
          <a:ln xmlns:a="http://schemas.openxmlformats.org/drawingml/2006/main" w="12383">
            <a:solidFill>
              <a:srgbClr val="2C9B94"/>
            </a:solidFill>
            <a:prstDash val="solid"/>
            <a:headEnd type="triangle" w="sm" len="sm"/>
          </a:ln>
        </p:spPr>
      </p:cxn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5E2C185-A026-4684-88BA-CAE9B13B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19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736"/>
                </a:solidFill>
              </a:defRPr>
            </a:pPr>
            <a:r>
              <a:rPr sz="1425" b="1">
                <a:solidFill>
                  <a:srgbClr val="152736"/>
                </a:solidFill>
              </a:rPr>
              <a:t>ResNet1D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9F74866-EA67-4A12-84EE-53AF708C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765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D79"/>
                </a:solidFill>
              </a:defRPr>
            </a:pPr>
            <a:r>
              <a:rPr sz="1088" b="0">
                <a:solidFill>
                  <a:srgbClr val="5D6D79"/>
                </a:solidFill>
              </a:rPr>
              <a:t>trained from scratch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31EF43C-0CFD-47FC-A521-83EE7F2E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28956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F951D1B-40D0-4B6A-BD96-83BEDE64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8194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C9B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767FD47-9068-4CAF-BB95-752D965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8194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C9B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00A08B0-675D-4781-AEFA-3E216FF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0194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C9B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65F14DF-4729-40DB-B4F6-69CF5F5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0194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C9B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0987022-2F24-4152-8681-71EAD9D5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2194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C9B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C4B7FA2-43F2-4F93-84DE-6856798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81400"/>
            <a:ext cx="152400" cy="5143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0E5"/>
          </a:solidFill>
          <a:ln xmlns:a="http://schemas.openxmlformats.org/drawingml/2006/main" w="11430">
            <a:solidFill>
              <a:srgbClr val="E08B4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F313CBC-85E3-4E54-B789-19D78DA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19500"/>
            <a:ext cx="152400" cy="438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0E5"/>
          </a:solidFill>
          <a:ln xmlns:a="http://schemas.openxmlformats.org/drawingml/2006/main" w="11430">
            <a:solidFill>
              <a:srgbClr val="E08B4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1463A6C-8A6E-4346-B0CB-2006AFB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57600"/>
            <a:ext cx="152400" cy="361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0E5"/>
          </a:solidFill>
          <a:ln xmlns:a="http://schemas.openxmlformats.org/drawingml/2006/main" w="11430">
            <a:solidFill>
              <a:srgbClr val="E08B4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12B5995-BBF2-4D8D-96A2-93E50FD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95700"/>
            <a:ext cx="152400" cy="2857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0E5"/>
          </a:solidFill>
          <a:ln xmlns:a="http://schemas.openxmlformats.org/drawingml/2006/main" w="11430">
            <a:solidFill>
              <a:srgbClr val="E08B4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FF56033-A0BB-4566-AA0C-E00C58D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52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08B45"/>
                </a:solidFill>
              </a:defRPr>
            </a:pPr>
            <a:r>
              <a:rPr sz="863" b="1">
                <a:solidFill>
                  <a:srgbClr val="E08B45"/>
                </a:solidFill>
              </a:rPr>
              <a:t>ATTN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5813964-384A-4327-8C81-3DE644F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736"/>
                </a:solidFill>
              </a:defRPr>
            </a:pPr>
            <a:r>
              <a:rPr sz="1425" b="1">
                <a:solidFill>
                  <a:srgbClr val="152736"/>
                </a:solidFill>
              </a:rPr>
              <a:t>Transformer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A1A35B6-79A4-46C0-962B-154C5082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004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D79"/>
                </a:solidFill>
              </a:defRPr>
            </a:pPr>
            <a:r>
              <a:rPr sz="1088" b="0">
                <a:solidFill>
                  <a:srgbClr val="5D6D79"/>
                </a:solidFill>
              </a:rPr>
              <a:t>vanilla baseline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C4FCCFA-75B1-4A13-89AD-0057AED1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36195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8E06E0B-2A3B-4B28-BB3C-7D4DD734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5433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0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9B9DC65-17F7-45D6-BEF3-0B6E6A09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5433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0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A93FE76-8B1A-4AF5-9F60-F04FE7B7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7433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0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0D510D4-9BC9-4709-8620-0A098D02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7433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0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AA33028-BD02-43B5-AB8F-483B62D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9433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0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9CC9219-9BB3-4682-B76A-4C64E7FF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14825"/>
            <a:ext cx="6858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ECF7"/>
          </a:solidFill>
          <a:ln xmlns:a="http://schemas.openxmlformats.org/drawingml/2006/main" w="11430">
            <a:solidFill>
              <a:srgbClr val="7857B6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EDE2388-8B63-49E9-8CB0-6E2D3126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3624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857B6"/>
                </a:solidFill>
              </a:defRPr>
            </a:pPr>
            <a:r>
              <a:rPr sz="788" b="1">
                <a:solidFill>
                  <a:srgbClr val="7857B6"/>
                </a:solidFill>
              </a:rPr>
              <a:t>FROZEN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594703E-EE90-42C2-AEBC-0E15372E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4680585"/>
            <a:ext cx="5943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5902E85-7B6F-485A-B3C6-EE7915F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32186" y="4661916"/>
            <a:ext cx="24765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C9F750E-6647-49A2-8C6C-E025B1BE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56951" y="4661916"/>
            <a:ext cx="24765" cy="37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54D575C6-ADCA-4F0B-9D46-F258E92E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81716" y="4680585"/>
            <a:ext cx="34671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40C9B65-123F-40B4-A752-32FC995E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16387" y="4680585"/>
            <a:ext cx="3467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11C9603-15BF-482F-A65D-D2EFCC1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751058" y="4595241"/>
            <a:ext cx="29718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0DA75EA-F919-466A-A970-FC92E28A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0776" y="4595241"/>
            <a:ext cx="24765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2BF3566-128F-4705-B71B-8C365320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05541" y="4661916"/>
            <a:ext cx="24765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C4F01E0-CE83-4F8C-B6FE-E76E59E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30306" y="4661916"/>
            <a:ext cx="34671" cy="18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480A153-6112-4BAC-9E51-C27666D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64977" y="4680585"/>
            <a:ext cx="4457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BD33F57-EA34-457A-A635-A19642B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909554" y="4645914"/>
            <a:ext cx="34671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A572D8E-A21B-422E-BB67-70DAB589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44225" y="4645914"/>
            <a:ext cx="44577" cy="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7A4CF10-8D4C-4DF9-8338-4635435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88802" y="4680585"/>
            <a:ext cx="7924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57B6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4544260-5D91-4F8F-B4C3-F5B5F93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438650"/>
            <a:ext cx="171450" cy="2476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857B6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57D1D69-6F07-4197-961E-AC5AD20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26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736"/>
                </a:solidFill>
              </a:defRPr>
            </a:pPr>
            <a:r>
              <a:rPr sz="1425" b="1">
                <a:solidFill>
                  <a:srgbClr val="152736"/>
                </a:solidFill>
              </a:rPr>
              <a:t>ECG-FM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C95FD35-5845-43E0-9A13-547ACA3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24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D79"/>
                </a:solidFill>
              </a:defRPr>
            </a:pPr>
            <a:r>
              <a:rPr sz="1088" b="0">
                <a:solidFill>
                  <a:srgbClr val="5D6D79"/>
                </a:solidFill>
              </a:rPr>
              <a:t>frozen backbone + adapter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2AFB406-ADD3-49BF-832A-7974291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11250" y="4343400"/>
            <a:ext cx="9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08F5967-7664-42CB-965D-DD8F1A9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2672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5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E66CAFB-FA32-4825-836D-6CAB816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2672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5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477345E-E0A3-4F81-A04B-D5E8AF7A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4672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5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52B037F-7E6B-4300-AB96-F4587AF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467225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5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7B646C6-19A4-4632-8D42-5A171D1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66725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5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5C9A94C-0A27-49F1-A838-1D72143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149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736"/>
                </a:solidFill>
              </a:defRPr>
            </a:pPr>
            <a:r>
              <a:rPr sz="1200" b="1">
                <a:solidFill>
                  <a:srgbClr val="152736"/>
                </a:solidFill>
              </a:rPr>
              <a:t>Five source-specific checkpoints per architecture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B9C292E-6AA7-417D-930A-633C20D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8160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D79"/>
                </a:solidFill>
              </a:defRPr>
            </a:pPr>
            <a:r>
              <a:rPr sz="1088" b="0">
                <a:solidFill>
                  <a:srgbClr val="5D6D79"/>
                </a:solidFill>
              </a:rPr>
              <a:t>Validation-AUROC early stopping · epoch checkpoints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3385FAA-9F62-4058-B53E-6C508BE1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8C5"/>
          </a:solidFill>
          <a:ln xmlns:a="http://schemas.openxmlformats.org/drawingml/2006/main" w="0">
            <a:solidFill>
              <a:srgbClr val="3B78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1A4146A-84B2-429B-9702-98BA8BD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737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736"/>
                </a:solidFill>
              </a:defRPr>
            </a:pPr>
            <a:r>
              <a:rPr sz="1800" b="1">
                <a:solidFill>
                  <a:srgbClr val="152736"/>
                </a:solidFill>
              </a:rPr>
              <a:t>5 × 5 source-to-target evaluation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2525DEE-10D1-450E-B61C-FFB8573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6019800"/>
            <a:ext cx="5143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B78C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A490E64-8224-46F8-B6C1-6E92AD57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P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93C6CCD-1D63-4A93-AD27-2A920644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M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6217DDA-080F-4A0F-82DA-21CB8D57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C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F49FD8F-B782-4447-94F9-0FB908EA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G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C5AC3F7-FFE7-41A8-97D9-11F780FC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341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K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2780E5A-5895-4FFC-ABAA-05DFC7E1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198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P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3D8161C-C001-4018-AB01-4DB79450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72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M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70A4041-60C3-4EE4-814F-39DAA0F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C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8FF525F-3431-45BA-9269-6071BBB8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771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G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9B3A9AF-1404-4236-8C23-6C122C87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295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D79"/>
                </a:solidFill>
              </a:defRPr>
            </a:pPr>
            <a:r>
              <a:rPr sz="1050" b="1">
                <a:solidFill>
                  <a:srgbClr val="5D6D79"/>
                </a:solidFill>
              </a:rPr>
              <a:t>K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56F4833-CCED-4B0B-89B9-44F40DCF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4198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4C6A"/>
          </a:solidFill>
          <a:ln xmlns:a="http://schemas.openxmlformats.org/drawingml/2006/main" w="11430">
            <a:solidFill>
              <a:srgbClr val="244C6A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AFAF730-7024-4EAA-B852-083CF9B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6654622-3C48-4F93-B95F-F4331B1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4198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A8920A8-52A0-4348-B2F3-0A61BDCF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198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30A6692-6620-447C-B4BD-ED88756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64198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A7A185E-8566-41EA-9CE4-7160973E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4198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D279C70-09EC-4A76-A302-FEE5E8B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77227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8FE0745-AC0A-4388-8962-C623EC32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77227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4C6A"/>
          </a:solidFill>
          <a:ln xmlns:a="http://schemas.openxmlformats.org/drawingml/2006/main" w="11430">
            <a:solidFill>
              <a:srgbClr val="244C6A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438640D-B96B-4B8C-A8D1-A80170BE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8294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2026B5F-DF22-43F9-BF28-0BB9883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77227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7F37BE7-AE5A-457F-BF99-E283C6E0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677227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95B29D3-E891-4215-8AB3-9BB18E5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77227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6CFC833-324E-426B-90AB-75F6ECAB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12470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FEF6C8EB-CDCC-43EE-B408-50E8497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12470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79D808E-4598-435D-896A-B960C4C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2470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4C6A"/>
          </a:solidFill>
          <a:ln xmlns:a="http://schemas.openxmlformats.org/drawingml/2006/main" w="11430">
            <a:solidFill>
              <a:srgbClr val="244C6A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EBB12EC-470E-437E-862C-AAA375C6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81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6C88995-146D-4CA0-B483-0176160F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12470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F8D8A624-0FD6-4A31-802A-C5B478B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DB76249-0C5D-417C-B57F-4F85B4F8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47712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B393600-3161-4F8E-86E1-FBCF0A4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47712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694C5F5-56B8-4C80-8FC4-9CC63A47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47712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93832871-86B9-4337-B6C1-C025403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47712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4C6A"/>
          </a:solidFill>
          <a:ln xmlns:a="http://schemas.openxmlformats.org/drawingml/2006/main" w="11430">
            <a:solidFill>
              <a:srgbClr val="244C6A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C58226A-157E-4CE1-963E-AA9843A7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5342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F2F6DEA-35F8-45F8-A4D8-3296ADE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477125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2ACA482-9C91-4816-9082-6B34589D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8295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81971DB-4712-4280-85E0-17A8EBE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78295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19F9A41-8B46-474F-8687-6D13925D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8295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696E038-EABE-4E7C-9D2D-31A5D482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8295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1430">
            <a:solidFill>
              <a:srgbClr val="BAD0E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AC3F2D4-585B-4116-837E-B36CCA8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8295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4C6A"/>
          </a:solidFill>
          <a:ln xmlns:a="http://schemas.openxmlformats.org/drawingml/2006/main" w="11430">
            <a:solidFill>
              <a:srgbClr val="244C6A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DA6C6E9-1B3C-43AC-879E-5EF80C7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886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0B26EE2-8ECB-4C86-9DB6-0F8F0BB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96075"/>
            <a:ext cx="266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D79"/>
                </a:solidFill>
              </a:defRPr>
            </a:pPr>
            <a:r>
              <a:rPr sz="975" b="1">
                <a:solidFill>
                  <a:srgbClr val="5D6D79"/>
                </a:solidFill>
              </a:rPr>
              <a:t>TRAINING SOURCE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667DBC0-2CB6-45F3-BCF5-D9142423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2296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D79"/>
                </a:solidFill>
              </a:defRPr>
            </a:pPr>
            <a:r>
              <a:rPr sz="975" b="1">
                <a:solidFill>
                  <a:srgbClr val="5D6D79"/>
                </a:solidFill>
              </a:rPr>
              <a:t>EVALUATION TARGET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E5CAC0F-775E-49CC-96C6-26445161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736"/>
                </a:solidFill>
              </a:defRPr>
            </a:pPr>
            <a:r>
              <a:rPr sz="1275" b="1">
                <a:solidFill>
                  <a:srgbClr val="152736"/>
                </a:solidFill>
              </a:rPr>
              <a:t>Per architecture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785FF27-EF86-4AAD-B7D6-2E2C8FF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8199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78C5"/>
                </a:solidFill>
              </a:defRPr>
            </a:pPr>
            <a:r>
              <a:rPr sz="1350" b="1">
                <a:solidFill>
                  <a:srgbClr val="3B78C5"/>
                </a:solidFill>
              </a:rPr>
              <a:t>5 source models</a:t>
            </a:r>
          </a:p>
          <a:p xmlns:a="http://schemas.openxmlformats.org/drawingml/2006/main">
            <a:pPr algn="l">
              <a:defRPr sz="1350" b="1">
                <a:solidFill>
                  <a:srgbClr val="3B78C5"/>
                </a:solidFill>
              </a:defRPr>
            </a:pPr>
            <a:r>
              <a:rPr sz="1350" b="1">
                <a:solidFill>
                  <a:srgbClr val="3B78C5"/>
                </a:solidFill>
              </a:rPr>
              <a:t>× 5 target datasets</a:t>
            </a:r>
          </a:p>
          <a:p xmlns:a="http://schemas.openxmlformats.org/drawingml/2006/main">
            <a:pPr algn="l">
              <a:defRPr sz="1350" b="1">
                <a:solidFill>
                  <a:srgbClr val="3B78C5"/>
                </a:solidFill>
              </a:defRPr>
            </a:pPr>
            <a:r>
              <a:rPr sz="1350" b="1">
                <a:solidFill>
                  <a:srgbClr val="3B78C5"/>
                </a:solidFill>
              </a:rPr>
              <a:t>= 25 evaluations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B8A0017A-B0B5-46D4-9BCB-7FA09346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734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D79"/>
                </a:solidFill>
              </a:defRPr>
            </a:pPr>
            <a:r>
              <a:rPr sz="1200" b="0">
                <a:solidFill>
                  <a:srgbClr val="5D6D79"/>
                </a:solidFill>
              </a:rPr>
              <a:t>Across four models:</a:t>
            </a:r>
          </a:p>
          <a:p xmlns:a="http://schemas.openxmlformats.org/drawingml/2006/main">
            <a:pPr algn="l">
              <a:defRPr sz="1200" b="0">
                <a:solidFill>
                  <a:srgbClr val="5D6D79"/>
                </a:solidFill>
              </a:defRPr>
            </a:pPr>
            <a:r>
              <a:rPr sz="1200" b="0">
                <a:solidFill>
                  <a:srgbClr val="5D6D79"/>
                </a:solidFill>
              </a:rPr>
              <a:t>100 evaluation cells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B904DFC-3FC3-4A92-834E-30C91A6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86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8B45"/>
          </a:solidFill>
          <a:ln xmlns:a="http://schemas.openxmlformats.org/drawingml/2006/main" w="0">
            <a:solidFill>
              <a:srgbClr val="E0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5119082-1171-4EE7-82A0-C884BEE9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67375"/>
            <a:ext cx="2638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736"/>
                </a:solidFill>
              </a:defRPr>
            </a:pPr>
            <a:r>
              <a:rPr sz="1800" b="1">
                <a:solidFill>
                  <a:srgbClr val="152736"/>
                </a:solidFill>
              </a:rPr>
              <a:t>Attribute dataset shift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50715B3-1726-40F6-939D-01E51CF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6019800"/>
            <a:ext cx="3000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08B4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47DB534-CE8B-4F6D-BCE7-D04C4CC4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389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3F415374-CE38-4777-8325-B4BBF590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1818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736"/>
                </a:solidFill>
              </a:defRPr>
            </a:pPr>
            <a:r>
              <a:rPr sz="975" b="1">
                <a:solidFill>
                  <a:srgbClr val="152736"/>
                </a:solidFill>
              </a:rPr>
              <a:t>Population</a:t>
            </a:r>
          </a:p>
          <a:p xmlns:a="http://schemas.openxmlformats.org/drawingml/2006/main">
            <a:pPr algn="ctr">
              <a:defRPr sz="975" b="1">
                <a:solidFill>
                  <a:srgbClr val="152736"/>
                </a:solidFill>
              </a:defRPr>
            </a:pPr>
            <a:r>
              <a:rPr sz="975" b="1">
                <a:solidFill>
                  <a:srgbClr val="152736"/>
                </a:solidFill>
              </a:rPr>
              <a:t>shift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39F4128-69B6-403E-B70A-2D5C3C57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389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8B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DS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38C5E98-31F2-44BB-8B3C-653F6BCD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71818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736"/>
                </a:solidFill>
              </a:defRPr>
            </a:pPr>
            <a:r>
              <a:rPr sz="975" b="1">
                <a:solidFill>
                  <a:srgbClr val="152736"/>
                </a:solidFill>
              </a:rPr>
              <a:t>Device / domain</a:t>
            </a:r>
          </a:p>
          <a:p xmlns:a="http://schemas.openxmlformats.org/drawingml/2006/main">
            <a:pPr algn="ctr">
              <a:defRPr sz="975" b="1">
                <a:solidFill>
                  <a:srgbClr val="152736"/>
                </a:solidFill>
              </a:defRPr>
            </a:pPr>
            <a:r>
              <a:rPr sz="975" b="1">
                <a:solidFill>
                  <a:srgbClr val="152736"/>
                </a:solidFill>
              </a:rPr>
              <a:t>shift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90EEDB4-6AE7-499F-99AE-2F54A121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389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57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LS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7E2D6DE-A624-4B80-A29A-BC648BBB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1818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736"/>
                </a:solidFill>
              </a:defRPr>
            </a:pPr>
            <a:r>
              <a:rPr sz="975" b="1">
                <a:solidFill>
                  <a:srgbClr val="152736"/>
                </a:solidFill>
              </a:rPr>
              <a:t>Label-schema</a:t>
            </a:r>
          </a:p>
          <a:p xmlns:a="http://schemas.openxmlformats.org/drawingml/2006/main">
            <a:pPr algn="ctr">
              <a:defRPr sz="975" b="1">
                <a:solidFill>
                  <a:srgbClr val="152736"/>
                </a:solidFill>
              </a:defRPr>
            </a:pPr>
            <a:r>
              <a:rPr sz="975" b="1">
                <a:solidFill>
                  <a:srgbClr val="152736"/>
                </a:solidFill>
              </a:rPr>
              <a:t>shift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DA1F3AEE-0398-46E8-AFC4-32D0135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82002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6662"/>
                </a:solidFill>
              </a:defRPr>
            </a:pPr>
            <a:r>
              <a:rPr sz="1350" b="1">
                <a:solidFill>
                  <a:srgbClr val="D86662"/>
                </a:solidFill>
              </a:rPr>
              <a:t>5-class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2CBC5C01-F976-4678-96CD-779EBCA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8295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2736"/>
          </a:solidFill>
          <a:ln xmlns:a="http://schemas.openxmlformats.org/drawingml/2006/main" w="0">
            <a:solidFill>
              <a:srgbClr val="152736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EF5A6C8-1D45-43A2-8F87-2C46F5C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2002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C9B94"/>
                </a:solidFill>
              </a:defRPr>
            </a:pPr>
            <a:r>
              <a:rPr sz="1350" b="1">
                <a:solidFill>
                  <a:srgbClr val="2C9B94"/>
                </a:solidFill>
              </a:rPr>
              <a:t>2-class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55702AE-D4D2-4445-9203-7C0FA8B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0962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D6D79"/>
                </a:solidFill>
              </a:defRPr>
            </a:pPr>
            <a:r>
              <a:rPr sz="1088" b="0">
                <a:solidFill>
                  <a:srgbClr val="5D6D79"/>
                </a:solidFill>
              </a:rPr>
              <a:t>Normal vs abnormal ablation estimates the fixable, label-driven portion of the gap.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0ECB9CA-C2D9-4089-A271-E76F558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86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62"/>
          </a:solidFill>
          <a:ln xmlns:a="http://schemas.openxmlformats.org/drawingml/2006/main" w="0">
            <a:solidFill>
              <a:srgbClr val="D8666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E3C5562-5FBC-4D94-A490-823527A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67375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736"/>
                </a:solidFill>
              </a:defRPr>
            </a:pPr>
            <a:r>
              <a:rPr sz="1800" b="1">
                <a:solidFill>
                  <a:srgbClr val="152736"/>
                </a:solidFill>
              </a:rPr>
              <a:t>Quantify performance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56BE1A31-FD77-4C11-9731-0869C348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82250" y="6019800"/>
            <a:ext cx="428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86662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26FFC6C-0919-40D0-B969-3460D275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7829550"/>
            <a:ext cx="1714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736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B4D4581-83F3-43CB-9A51-CD349535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6610350"/>
            <a:ext cx="95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736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AA048B0-9CF6-4521-82FC-767D8C5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6610350"/>
            <a:ext cx="171450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5DC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9012FD8-E005-4437-B4D5-0E1E99B2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7317486"/>
            <a:ext cx="24003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B78C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DEE493A1-FA58-4396-A726-0B23308F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69930" y="7037070"/>
            <a:ext cx="308610" cy="2804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B78C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ABA88643-D7F4-4E9F-9AD6-DF0C9BB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78540" y="6829806"/>
            <a:ext cx="394335" cy="207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B78C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C26EBF9A-3D51-4FA3-AB74-3E5ED99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572875" y="6695694"/>
            <a:ext cx="428625" cy="134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B78C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020AE3A-98EF-4849-8562-03E6B108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01500" y="6610350"/>
            <a:ext cx="342900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B78C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71EFB279-6C5C-4FAE-BCFD-8F54D8A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7463790"/>
            <a:ext cx="20574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86662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820459CA-2453-4500-9BC4-FF91D9CA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35640" y="7195566"/>
            <a:ext cx="308610" cy="268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86662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C27EAFC5-9E29-421E-B164-7DBC132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44250" y="6951726"/>
            <a:ext cx="428625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86662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2853184B-F51E-4D5F-96F3-A69B1423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572875" y="6756654"/>
            <a:ext cx="394335" cy="195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86662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9212E1AD-3FAB-4145-9AAA-51D52AF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67210" y="6610350"/>
            <a:ext cx="37719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86662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DA6DEEA4-71E6-4FFA-B46C-9835F08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29900" y="7549134"/>
            <a:ext cx="308610" cy="2804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C9B94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2335D46-DBC1-49BE-A49A-F8A50D0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938510" y="7305294"/>
            <a:ext cx="342900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C9B94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C364106-CE85-47F4-ACCE-2F64314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81410" y="7037070"/>
            <a:ext cx="411480" cy="268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C9B94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38D69A65-5F6C-4D05-A724-8E72E09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692890" y="6805422"/>
            <a:ext cx="360045" cy="231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C9B94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3ACD1DA7-A72D-416C-B0F9-1B7DFE50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52935" y="6610350"/>
            <a:ext cx="291465" cy="195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C9B94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B7C796E6-F17D-43C0-8A03-D834B5E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67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736"/>
                </a:solidFill>
              </a:defRPr>
            </a:pPr>
            <a:r>
              <a:rPr sz="1200" b="1">
                <a:solidFill>
                  <a:srgbClr val="152736"/>
                </a:solidFill>
              </a:rPr>
              <a:t>ROC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CD5C70A-DE9C-4CA5-A98F-5928DE3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15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78C5"/>
                </a:solidFill>
              </a:defRPr>
            </a:pPr>
            <a:r>
              <a:rPr sz="1350" b="1">
                <a:solidFill>
                  <a:srgbClr val="3B78C5"/>
                </a:solidFill>
              </a:rPr>
              <a:t>Macro-AUROC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BE49E4D-0AEC-49C0-9F48-5C152C3C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877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6662"/>
                </a:solidFill>
              </a:defRPr>
            </a:pPr>
            <a:r>
              <a:rPr sz="1350" b="1">
                <a:solidFill>
                  <a:srgbClr val="D86662"/>
                </a:solidFill>
              </a:rPr>
              <a:t>Per-class AUROC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C1179F0-E721-44FC-AF5B-385B1512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3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57B6"/>
                </a:solidFill>
              </a:defRPr>
            </a:pPr>
            <a:r>
              <a:rPr sz="1350" b="1">
                <a:solidFill>
                  <a:srgbClr val="7857B6"/>
                </a:solidFill>
              </a:rPr>
              <a:t>Δij and composite Score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3C4787E-824A-48C9-80BA-61431F6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600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9B94"/>
                </a:solidFill>
              </a:defRPr>
            </a:pPr>
            <a:r>
              <a:rPr sz="1350" b="1">
                <a:solidFill>
                  <a:srgbClr val="2C9B94"/>
                </a:solidFill>
              </a:rPr>
              <a:t>95% bootstrap CI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0D6848EA-3697-45D4-94AB-76DA22A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039100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D6D79"/>
                </a:solidFill>
              </a:defRPr>
            </a:pPr>
            <a:r>
              <a:rPr sz="1163" b="0">
                <a:solidFill>
                  <a:srgbClr val="5D6D79"/>
                </a:solidFill>
              </a:rPr>
              <a:t>The diagonal measures in-distribution performance; off-diagonal cells measure external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132016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2026-09-01T00:23:09.3030000Z</dcterms:created>
  <dcterms:modified xsi:type="dcterms:W3CDTF">2026-09-01T00:23:09.3030000Z</dcterms:modified>
</coreProperties>
</file>